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나눔스퀘어 네오 OTF Regular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나눔스퀘어 네오 OTF Regular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나눔스퀘어 네오 OTF Regular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나눔스퀘어 네오 OTF Regular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나눔스퀘어 네오 OTF Regular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나눔스퀘어 네오 OTF Regular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나눔스퀘어 네오 OTF Regular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나눔스퀘어 네오 OTF Regular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나눔스퀘어 네오 OTF Regular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>
          <a:latin typeface="나눔스퀘어 네오 OTF Bold"/>
          <a:ea typeface="나눔스퀘어 네오 OTF Bold"/>
          <a:cs typeface="나눔스퀘어 네오 OTF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나눔스퀘어 네오 OTF Bold"/>
          <a:ea typeface="나눔스퀘어 네오 OTF Bold"/>
          <a:cs typeface="나눔스퀘어 네오 OTF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나눔스퀘어 네오 OTF Bold"/>
          <a:ea typeface="나눔스퀘어 네오 OTF Bold"/>
          <a:cs typeface="나눔스퀘어 네오 OTF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>
          <a:latin typeface="나눔스퀘어 네오 OTF Bold"/>
          <a:ea typeface="나눔스퀘어 네오 OTF Bold"/>
          <a:cs typeface="나눔스퀘어 네오 OTF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나눔스퀘어 네오 OTF Bold"/>
          <a:ea typeface="나눔스퀘어 네오 OTF Bold"/>
          <a:cs typeface="나눔스퀘어 네오 OTF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나눔스퀘어 네오 OTF Bold"/>
          <a:ea typeface="나눔스퀘어 네오 OTF Bold"/>
          <a:cs typeface="나눔스퀘어 네오 OTF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>
          <a:latin typeface="나눔스퀘어 네오 OTF Bold"/>
          <a:ea typeface="나눔스퀘어 네오 OTF Bold"/>
          <a:cs typeface="나눔스퀘어 네오 OTF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나눔스퀘어 네오 OTF Bold"/>
          <a:ea typeface="나눔스퀘어 네오 OTF Bold"/>
          <a:cs typeface="나눔스퀘어 네오 OTF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나눔스퀘어 네오 OTF Bold"/>
          <a:ea typeface="나눔스퀘어 네오 OTF Bold"/>
          <a:cs typeface="나눔스퀘어 네오 OTF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나눔스퀘어 네오 OTF Bold"/>
          <a:ea typeface="나눔스퀘어 네오 OTF Bold"/>
          <a:cs typeface="나눔스퀘어 네오 OTF 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나눔스퀘어 네오 OTF Bold"/>
          <a:ea typeface="나눔스퀘어 네오 OTF Bold"/>
          <a:cs typeface="나눔스퀘어 네오 OTF Bold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나눔스퀘어 네오 OTF Bold"/>
          <a:ea typeface="나눔스퀘어 네오 OTF Bold"/>
          <a:cs typeface="나눔스퀘어 네오 OTF 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나눔스퀘어 네오 OTF Bold"/>
          <a:ea typeface="나눔스퀘어 네오 OTF Bold"/>
          <a:cs typeface="나눔스퀘어 네오 OTF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나눔스퀘어 네오 OTF Bold"/>
          <a:ea typeface="나눔스퀘어 네오 OTF Bold"/>
          <a:cs typeface="나눔스퀘어 네오 OTF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나눔스퀘어 네오 OTF Bold"/>
          <a:ea typeface="나눔스퀘어 네오 OTF Bold"/>
          <a:cs typeface="나눔스퀘어 네오 OTF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나눔스퀘어 네오 OTF Bold"/>
          <a:ea typeface="나눔스퀘어 네오 OTF Bold"/>
          <a:cs typeface="나눔스퀘어 네오 OTF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나눔스퀘어 네오 OTF Bold"/>
          <a:ea typeface="나눔스퀘어 네오 OTF Bold"/>
          <a:cs typeface="나눔스퀘어 네오 OTF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나눔스퀘어 네오 OTF Bold"/>
          <a:ea typeface="나눔스퀘어 네오 OTF Bold"/>
          <a:cs typeface="나눔스퀘어 네오 OTF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90"/>
    <p:restoredTop sz="72062"/>
  </p:normalViewPr>
  <p:slideViewPr>
    <p:cSldViewPr snapToGrid="0">
      <p:cViewPr varScale="1">
        <p:scale>
          <a:sx n="117" d="100"/>
          <a:sy n="117" d="100"/>
        </p:scale>
        <p:origin x="77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2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9" name="Shape 2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500">
        <a:latin typeface="+mn-lt"/>
        <a:ea typeface="+mn-ea"/>
        <a:cs typeface="+mn-cs"/>
        <a:sym typeface="나눔스퀘어 네오 OTF Regular"/>
      </a:defRPr>
    </a:lvl1pPr>
    <a:lvl2pPr indent="228600" latinLnBrk="0">
      <a:defRPr sz="1500">
        <a:latin typeface="+mn-lt"/>
        <a:ea typeface="+mn-ea"/>
        <a:cs typeface="+mn-cs"/>
        <a:sym typeface="나눔스퀘어 네오 OTF Regular"/>
      </a:defRPr>
    </a:lvl2pPr>
    <a:lvl3pPr indent="457200" latinLnBrk="0">
      <a:defRPr sz="1500">
        <a:latin typeface="+mn-lt"/>
        <a:ea typeface="+mn-ea"/>
        <a:cs typeface="+mn-cs"/>
        <a:sym typeface="나눔스퀘어 네오 OTF Regular"/>
      </a:defRPr>
    </a:lvl3pPr>
    <a:lvl4pPr indent="685800" latinLnBrk="0">
      <a:defRPr sz="1500">
        <a:latin typeface="+mn-lt"/>
        <a:ea typeface="+mn-ea"/>
        <a:cs typeface="+mn-cs"/>
        <a:sym typeface="나눔스퀘어 네오 OTF Regular"/>
      </a:defRPr>
    </a:lvl4pPr>
    <a:lvl5pPr indent="914400" latinLnBrk="0">
      <a:defRPr sz="1500">
        <a:latin typeface="+mn-lt"/>
        <a:ea typeface="+mn-ea"/>
        <a:cs typeface="+mn-cs"/>
        <a:sym typeface="나눔스퀘어 네오 OTF Regular"/>
      </a:defRPr>
    </a:lvl5pPr>
    <a:lvl6pPr indent="1143000" latinLnBrk="0">
      <a:defRPr sz="1500">
        <a:latin typeface="+mn-lt"/>
        <a:ea typeface="+mn-ea"/>
        <a:cs typeface="+mn-cs"/>
        <a:sym typeface="나눔스퀘어 네오 OTF Regular"/>
      </a:defRPr>
    </a:lvl6pPr>
    <a:lvl7pPr indent="1371600" latinLnBrk="0">
      <a:defRPr sz="1500">
        <a:latin typeface="+mn-lt"/>
        <a:ea typeface="+mn-ea"/>
        <a:cs typeface="+mn-cs"/>
        <a:sym typeface="나눔스퀘어 네오 OTF Regular"/>
      </a:defRPr>
    </a:lvl7pPr>
    <a:lvl8pPr indent="1600200" latinLnBrk="0">
      <a:defRPr sz="1500">
        <a:latin typeface="+mn-lt"/>
        <a:ea typeface="+mn-ea"/>
        <a:cs typeface="+mn-cs"/>
        <a:sym typeface="나눔스퀘어 네오 OTF Regular"/>
      </a:defRPr>
    </a:lvl8pPr>
    <a:lvl9pPr indent="1828800" latinLnBrk="0">
      <a:defRPr sz="1500">
        <a:latin typeface="+mn-lt"/>
        <a:ea typeface="+mn-ea"/>
        <a:cs typeface="+mn-cs"/>
        <a:sym typeface="나눔스퀘어 네오 OTF Regular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4" name="Shape 34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Exception Class에 대해 강의하겠습니다. 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39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0" name="Shape 40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페이지 2</a:t>
            </a:r>
          </a:p>
          <a:p>
            <a:endParaRPr/>
          </a:p>
          <a:p>
            <a:r>
              <a:t>먼저 Error와 Exception을 구분할 필요가 있습니다. </a:t>
            </a:r>
          </a:p>
          <a:p>
            <a:r>
              <a:t>Error는 program code로 처리가 되지 않는 심각한 error를 말합니다. </a:t>
            </a:r>
          </a:p>
          <a:p>
            <a:r>
              <a:t>Compile-time error는 </a:t>
            </a:r>
          </a:p>
          <a:p>
            <a:r>
              <a:t>프로그래밍 언어의 문법에 어긋난 코드에서 발생하며</a:t>
            </a:r>
          </a:p>
          <a:p>
            <a:r>
              <a:t>compile이 실행되지 않게하는 error입니다. </a:t>
            </a:r>
          </a:p>
          <a:p>
            <a:r>
              <a:t>Run-time error는 compile time에는 감지되지 않으며</a:t>
            </a:r>
          </a:p>
          <a:p>
            <a:r>
              <a:t>프로그램이 실행중에 예기치 않게 종료되는 경우입니다. </a:t>
            </a:r>
          </a:p>
          <a:p>
            <a:r>
              <a:t>예를 들어 memory 부족, stack overflow, 하드웨어 결함 등이 있는데</a:t>
            </a:r>
          </a:p>
          <a:p>
            <a:r>
              <a:t>이것은 프로그램의 오류 보다는 system의 자원 부족등으로 나타나기 때문에</a:t>
            </a:r>
          </a:p>
          <a:p>
            <a:r>
              <a:t>예측할 수 없다는 공통점이 있습니다. </a:t>
            </a:r>
          </a:p>
          <a:p>
            <a:r>
              <a:t>Logic error는 compile도 되고 run도 되지만</a:t>
            </a:r>
          </a:p>
          <a:p>
            <a:r>
              <a:t>원하는 답이 나오지 않는 경우로</a:t>
            </a:r>
          </a:p>
          <a:p>
            <a:r>
              <a:t>프로그램에 사용된 알고리즘을 잘못 설계했을 경우에 일어납니다. </a:t>
            </a:r>
          </a:p>
          <a:p>
            <a:r>
              <a:t>한편, 복구하기 어려운 Error에 비해 </a:t>
            </a:r>
          </a:p>
          <a:p>
            <a:r>
              <a:t>Exception은 그 발생을 예상하는 program의 code 지점에</a:t>
            </a:r>
          </a:p>
          <a:p>
            <a:r>
              <a:t>exception을 처리할 code를 추가함으로써 처리될 수 있는 </a:t>
            </a:r>
          </a:p>
          <a:p>
            <a:r>
              <a:t>비교적 가벼운 error를 말합니다. </a:t>
            </a:r>
          </a:p>
          <a:p>
            <a:r>
              <a:t>그렇다면 Exception을 handling 한다는 것은 무엇을 말할까요? </a:t>
            </a:r>
          </a:p>
          <a:p>
            <a:r>
              <a:t>program의 비정상적인 종료를 coding을 통해 방지하여</a:t>
            </a:r>
          </a:p>
          <a:p>
            <a:r>
              <a:t>정상적인 프로그램 실행을 유지하도록 하는 것을 말합니다. </a:t>
            </a:r>
          </a:p>
          <a:p>
            <a:r>
              <a:t>여기서 비정상적인 종료를 방지한다는 것은</a:t>
            </a:r>
          </a:p>
          <a:p>
            <a:r>
              <a:t>프로그램을 절대 종료시키지 않는다는 말이 아니라 </a:t>
            </a:r>
          </a:p>
          <a:p>
            <a:r>
              <a:t>적어도 프로그래머가 이 프로그램이 왜 여기서 종료되었는지를 </a:t>
            </a:r>
          </a:p>
          <a:p>
            <a:r>
              <a:t>알 수 있도록 코딩할 수 있다는 뜻이기도 합니다. </a:t>
            </a:r>
          </a:p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45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6" name="Shape 46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페이지 3</a:t>
            </a:r>
          </a:p>
          <a:p>
            <a:endParaRPr/>
          </a:p>
          <a:p>
            <a:r>
              <a:t>Exception의 Type에 대해 알아보겠습니다. </a:t>
            </a:r>
          </a:p>
          <a:p>
            <a:r>
              <a:t>먼저 General Exception은 </a:t>
            </a:r>
          </a:p>
          <a:p>
            <a:r>
              <a:t>compile-time checked exception 이라고도 불리는데</a:t>
            </a:r>
          </a:p>
          <a:p>
            <a:r>
              <a:t>컴파일러가 적절한 exception handling code의 존재를</a:t>
            </a:r>
          </a:p>
          <a:p>
            <a:r>
              <a:t>컴파일하면서 체크하여</a:t>
            </a:r>
          </a:p>
          <a:p>
            <a:r>
              <a:t>만약 exception handling code가 존재하지 않으면</a:t>
            </a:r>
          </a:p>
          <a:p>
            <a:r>
              <a:t>compile error를 발생시키는 경우를 말합니다. </a:t>
            </a:r>
          </a:p>
          <a:p>
            <a:r>
              <a:t>Exception 에 대해 상당히 엄격하게</a:t>
            </a:r>
          </a:p>
          <a:p>
            <a:r>
              <a:t>그 처리를 요구하는 경우라 할 수 있습니다. </a:t>
            </a:r>
          </a:p>
          <a:p>
            <a:r>
              <a:t>다른 type으로 Runtime Exception이 있는데</a:t>
            </a:r>
          </a:p>
          <a:p>
            <a:r>
              <a:t>이것은 compile-time unchecked exception 이라고도 불립니다. </a:t>
            </a:r>
          </a:p>
          <a:p>
            <a:r>
              <a:t>이 exception type은</a:t>
            </a:r>
          </a:p>
          <a:p>
            <a:r>
              <a:t>compiler가 exception handling code의 존재여부를 </a:t>
            </a:r>
          </a:p>
          <a:p>
            <a:r>
              <a:t>compile time에 체크하지는 않습니다. </a:t>
            </a:r>
          </a:p>
          <a:p>
            <a:r>
              <a:t>그러나 programmer는 </a:t>
            </a:r>
          </a:p>
          <a:p>
            <a:r>
              <a:t>Runtime Exception type의 exception을 handling하기 위해서</a:t>
            </a:r>
          </a:p>
          <a:p>
            <a:r>
              <a:t>exception handling code를 직접 써 넣을 수도 있습니다. </a:t>
            </a:r>
          </a:p>
          <a:p>
            <a:r>
              <a:t>runtime exception이 발생한 경우</a:t>
            </a:r>
          </a:p>
          <a:p>
            <a:r>
              <a:t>만일 이미 coding되어 있는 exception handling code가 존재하는 경우에는</a:t>
            </a:r>
          </a:p>
          <a:p>
            <a:r>
              <a:t>그 code에 따라 exception이 handling되며</a:t>
            </a:r>
          </a:p>
          <a:p>
            <a:r>
              <a:t>exception-handling code가 존재하지 않는 경우에는</a:t>
            </a:r>
          </a:p>
          <a:p>
            <a:r>
              <a:t>program이 즉시 stop 됩니다. 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8" name="Shape 58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페이지 4</a:t>
            </a:r>
          </a:p>
          <a:p>
            <a:endParaRPr/>
          </a:p>
          <a:p>
            <a:r>
              <a:t>java.lang.Exception은 모든 exception class 중에</a:t>
            </a:r>
          </a:p>
          <a:p>
            <a:r>
              <a:t>가장 ancestor class입니다. </a:t>
            </a:r>
          </a:p>
          <a:p>
            <a:r>
              <a:t>모든 predefined exception들과</a:t>
            </a:r>
          </a:p>
          <a:p>
            <a:r>
              <a:t>또한 user defined exception들까지도</a:t>
            </a:r>
          </a:p>
          <a:p>
            <a:r>
              <a:t>대문자로 시작하는 Exception class의 descendant로 정의됩니다. </a:t>
            </a:r>
          </a:p>
          <a:p>
            <a:r>
              <a:t>Exception의 children class중에</a:t>
            </a:r>
          </a:p>
          <a:p>
            <a:r>
              <a:t>java.lang.RuntimeException이 아닌</a:t>
            </a:r>
          </a:p>
          <a:p>
            <a:r>
              <a:t>예를 들면 ClassNotFoundException,</a:t>
            </a:r>
          </a:p>
          <a:p>
            <a:r>
              <a:t>java.io.IOException등은</a:t>
            </a:r>
          </a:p>
          <a:p>
            <a:r>
              <a:t>앞 슬라이드에서 정의한 General Exception에 속하기 때문에</a:t>
            </a:r>
          </a:p>
          <a:p>
            <a:r>
              <a:t>Compile time에 exception handling code의 존재가 check되고</a:t>
            </a:r>
          </a:p>
          <a:p>
            <a:r>
              <a:t>coding할 때 exception handling code도</a:t>
            </a:r>
          </a:p>
          <a:p>
            <a:r>
              <a:t>함께 coding해야 합니다. </a:t>
            </a:r>
          </a:p>
          <a:p>
            <a:r>
              <a:t>한편 Exception의 children class 중에</a:t>
            </a:r>
          </a:p>
          <a:p>
            <a:r>
              <a:t>java.lang.RuntimeException은</a:t>
            </a:r>
          </a:p>
          <a:p>
            <a:r>
              <a:t>앞 슬라이드에서 정의한 Runtime Exception에 속합니다. </a:t>
            </a:r>
          </a:p>
          <a:p>
            <a:r>
              <a:t>java.lang.RuntimeException은</a:t>
            </a:r>
          </a:p>
          <a:p>
            <a:r>
              <a:t>많은 children class들을 가지는데 </a:t>
            </a:r>
          </a:p>
          <a:p>
            <a:r>
              <a:t>이들이 모두 Runtime Exception 들이고</a:t>
            </a:r>
          </a:p>
          <a:p>
            <a:r>
              <a:t>따라서 compile time에 </a:t>
            </a:r>
          </a:p>
          <a:p>
            <a:r>
              <a:t>exception handling code의 존재가 check되지 않으며</a:t>
            </a:r>
          </a:p>
          <a:p>
            <a:r>
              <a:t>runtime에 exception이 발생할 경우에</a:t>
            </a:r>
          </a:p>
          <a:p>
            <a:r>
              <a:t>exception handling code가 있는 때에만</a:t>
            </a:r>
          </a:p>
          <a:p>
            <a:r>
              <a:t>exception을 handling 합니다. </a:t>
            </a:r>
          </a:p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65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6" name="Shape 66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 err="1"/>
              <a:t>페이지</a:t>
            </a:r>
            <a:r>
              <a:rPr dirty="0"/>
              <a:t> 5</a:t>
            </a:r>
          </a:p>
          <a:p>
            <a:endParaRPr dirty="0"/>
          </a:p>
          <a:p>
            <a:r>
              <a:rPr dirty="0" err="1"/>
              <a:t>이제</a:t>
            </a:r>
            <a:r>
              <a:rPr dirty="0"/>
              <a:t> General Exception </a:t>
            </a:r>
            <a:r>
              <a:rPr dirty="0" err="1"/>
              <a:t>중의</a:t>
            </a:r>
            <a:r>
              <a:rPr dirty="0"/>
              <a:t> </a:t>
            </a:r>
            <a:r>
              <a:rPr dirty="0" err="1"/>
              <a:t>하나인</a:t>
            </a:r>
            <a:r>
              <a:rPr dirty="0"/>
              <a:t> </a:t>
            </a:r>
          </a:p>
          <a:p>
            <a:r>
              <a:rPr dirty="0" err="1"/>
              <a:t>ClassNotFoundException이</a:t>
            </a:r>
            <a:r>
              <a:rPr dirty="0"/>
              <a:t> </a:t>
            </a:r>
            <a:r>
              <a:rPr dirty="0" err="1"/>
              <a:t>발생하는</a:t>
            </a:r>
            <a:r>
              <a:rPr dirty="0"/>
              <a:t> </a:t>
            </a:r>
            <a:r>
              <a:rPr dirty="0" err="1"/>
              <a:t>경우에</a:t>
            </a:r>
            <a:r>
              <a:rPr dirty="0"/>
              <a:t> </a:t>
            </a:r>
            <a:r>
              <a:rPr dirty="0" err="1"/>
              <a:t>대해</a:t>
            </a:r>
            <a:r>
              <a:rPr dirty="0"/>
              <a:t> </a:t>
            </a:r>
          </a:p>
          <a:p>
            <a:r>
              <a:rPr dirty="0" err="1"/>
              <a:t>알아보려고</a:t>
            </a:r>
            <a:r>
              <a:rPr dirty="0"/>
              <a:t> </a:t>
            </a:r>
            <a:r>
              <a:rPr dirty="0" err="1"/>
              <a:t>합니다</a:t>
            </a:r>
            <a:r>
              <a:rPr dirty="0"/>
              <a:t>. </a:t>
            </a:r>
          </a:p>
          <a:p>
            <a:r>
              <a:rPr dirty="0" err="1"/>
              <a:t>ClassNotFoundException에</a:t>
            </a:r>
            <a:r>
              <a:rPr dirty="0"/>
              <a:t> </a:t>
            </a:r>
            <a:r>
              <a:rPr dirty="0" err="1"/>
              <a:t>대해서</a:t>
            </a:r>
            <a:r>
              <a:rPr dirty="0"/>
              <a:t> </a:t>
            </a:r>
            <a:r>
              <a:rPr dirty="0" err="1"/>
              <a:t>이해하기</a:t>
            </a:r>
            <a:r>
              <a:rPr dirty="0"/>
              <a:t> </a:t>
            </a:r>
            <a:r>
              <a:rPr dirty="0" err="1"/>
              <a:t>위해서는</a:t>
            </a:r>
            <a:endParaRPr dirty="0"/>
          </a:p>
          <a:p>
            <a:r>
              <a:rPr dirty="0" err="1"/>
              <a:t>대문자로</a:t>
            </a:r>
            <a:r>
              <a:rPr dirty="0"/>
              <a:t> </a:t>
            </a:r>
            <a:r>
              <a:rPr dirty="0" err="1"/>
              <a:t>시작하는</a:t>
            </a:r>
            <a:r>
              <a:rPr dirty="0"/>
              <a:t> Class </a:t>
            </a:r>
            <a:r>
              <a:rPr dirty="0" err="1"/>
              <a:t>class에</a:t>
            </a:r>
            <a:r>
              <a:rPr dirty="0"/>
              <a:t> </a:t>
            </a:r>
            <a:r>
              <a:rPr dirty="0" err="1"/>
              <a:t>대해</a:t>
            </a:r>
            <a:r>
              <a:rPr dirty="0"/>
              <a:t> </a:t>
            </a:r>
            <a:r>
              <a:rPr dirty="0" err="1"/>
              <a:t>이해해야</a:t>
            </a:r>
            <a:r>
              <a:rPr dirty="0"/>
              <a:t> </a:t>
            </a:r>
            <a:r>
              <a:rPr dirty="0" err="1"/>
              <a:t>합니다</a:t>
            </a:r>
            <a:r>
              <a:rPr dirty="0"/>
              <a:t>. </a:t>
            </a:r>
          </a:p>
          <a:p>
            <a:r>
              <a:rPr dirty="0"/>
              <a:t>이 </a:t>
            </a:r>
            <a:r>
              <a:rPr dirty="0" err="1"/>
              <a:t>프로그램에는</a:t>
            </a:r>
            <a:r>
              <a:rPr dirty="0"/>
              <a:t> class TempClass0가 </a:t>
            </a:r>
            <a:r>
              <a:rPr dirty="0" err="1"/>
              <a:t>정의되어</a:t>
            </a:r>
            <a:r>
              <a:rPr dirty="0"/>
              <a:t> </a:t>
            </a:r>
            <a:r>
              <a:rPr dirty="0" err="1"/>
              <a:t>있습니다</a:t>
            </a:r>
            <a:r>
              <a:rPr dirty="0"/>
              <a:t>. </a:t>
            </a:r>
          </a:p>
          <a:p>
            <a:r>
              <a:rPr dirty="0"/>
              <a:t>main </a:t>
            </a:r>
            <a:r>
              <a:rPr dirty="0" err="1"/>
              <a:t>method에서</a:t>
            </a:r>
            <a:r>
              <a:rPr dirty="0"/>
              <a:t> TempClass0의 </a:t>
            </a:r>
            <a:r>
              <a:rPr dirty="0" err="1"/>
              <a:t>object인</a:t>
            </a:r>
            <a:r>
              <a:rPr dirty="0"/>
              <a:t> t0를 </a:t>
            </a:r>
            <a:r>
              <a:rPr dirty="0" err="1"/>
              <a:t>생성하였습니다</a:t>
            </a:r>
            <a:r>
              <a:rPr dirty="0"/>
              <a:t>. </a:t>
            </a:r>
          </a:p>
          <a:p>
            <a:r>
              <a:rPr dirty="0"/>
              <a:t>t0.getClass()를 </a:t>
            </a:r>
            <a:r>
              <a:rPr dirty="0" err="1"/>
              <a:t>call하여</a:t>
            </a:r>
            <a:r>
              <a:rPr dirty="0"/>
              <a:t> </a:t>
            </a:r>
            <a:r>
              <a:rPr dirty="0" err="1"/>
              <a:t>java.lang.Class</a:t>
            </a:r>
            <a:r>
              <a:rPr dirty="0"/>
              <a:t> </a:t>
            </a:r>
            <a:r>
              <a:rPr dirty="0" err="1"/>
              <a:t>type의</a:t>
            </a:r>
            <a:r>
              <a:rPr dirty="0"/>
              <a:t> </a:t>
            </a:r>
            <a:r>
              <a:rPr dirty="0" err="1"/>
              <a:t>object를</a:t>
            </a:r>
            <a:r>
              <a:rPr dirty="0"/>
              <a:t> </a:t>
            </a:r>
            <a:r>
              <a:rPr dirty="0" err="1"/>
              <a:t>return합니다</a:t>
            </a:r>
            <a:r>
              <a:rPr dirty="0"/>
              <a:t>. </a:t>
            </a:r>
          </a:p>
          <a:p>
            <a:r>
              <a:rPr dirty="0"/>
              <a:t>이 </a:t>
            </a:r>
            <a:r>
              <a:rPr dirty="0" err="1"/>
              <a:t>대문자로</a:t>
            </a:r>
            <a:r>
              <a:rPr dirty="0"/>
              <a:t> </a:t>
            </a:r>
            <a:r>
              <a:rPr dirty="0" err="1"/>
              <a:t>시작하는</a:t>
            </a:r>
            <a:r>
              <a:rPr dirty="0"/>
              <a:t> Class </a:t>
            </a:r>
            <a:r>
              <a:rPr dirty="0" err="1"/>
              <a:t>object는</a:t>
            </a:r>
            <a:r>
              <a:rPr dirty="0"/>
              <a:t> </a:t>
            </a:r>
            <a:r>
              <a:rPr dirty="0" err="1"/>
              <a:t>현재</a:t>
            </a:r>
            <a:r>
              <a:rPr dirty="0"/>
              <a:t> </a:t>
            </a:r>
            <a:r>
              <a:rPr dirty="0" err="1"/>
              <a:t>실행중인</a:t>
            </a:r>
            <a:r>
              <a:rPr dirty="0"/>
              <a:t> java application </a:t>
            </a:r>
            <a:r>
              <a:rPr dirty="0" err="1"/>
              <a:t>내의</a:t>
            </a:r>
            <a:r>
              <a:rPr dirty="0"/>
              <a:t> </a:t>
            </a:r>
          </a:p>
          <a:p>
            <a:r>
              <a:rPr dirty="0" err="1"/>
              <a:t>특정</a:t>
            </a:r>
            <a:r>
              <a:rPr dirty="0"/>
              <a:t> class, </a:t>
            </a:r>
            <a:r>
              <a:rPr dirty="0" err="1"/>
              <a:t>여기서는</a:t>
            </a:r>
            <a:r>
              <a:rPr dirty="0"/>
              <a:t> t0의 class </a:t>
            </a:r>
            <a:r>
              <a:rPr dirty="0" err="1"/>
              <a:t>이니까</a:t>
            </a:r>
            <a:endParaRPr dirty="0"/>
          </a:p>
          <a:p>
            <a:r>
              <a:rPr dirty="0"/>
              <a:t>TempClass0에 </a:t>
            </a:r>
            <a:r>
              <a:rPr dirty="0" err="1"/>
              <a:t>대한</a:t>
            </a:r>
            <a:r>
              <a:rPr dirty="0"/>
              <a:t> </a:t>
            </a:r>
            <a:r>
              <a:rPr dirty="0" err="1"/>
              <a:t>정보를</a:t>
            </a:r>
            <a:r>
              <a:rPr dirty="0"/>
              <a:t> </a:t>
            </a:r>
            <a:r>
              <a:rPr dirty="0" err="1"/>
              <a:t>가지고</a:t>
            </a:r>
            <a:r>
              <a:rPr dirty="0"/>
              <a:t> </a:t>
            </a:r>
            <a:r>
              <a:rPr dirty="0" err="1"/>
              <a:t>있습니다</a:t>
            </a:r>
            <a:r>
              <a:rPr dirty="0"/>
              <a:t>.</a:t>
            </a:r>
          </a:p>
          <a:p>
            <a:r>
              <a:rPr dirty="0" err="1"/>
              <a:t>OUTPUT을</a:t>
            </a:r>
            <a:r>
              <a:rPr dirty="0"/>
              <a:t> </a:t>
            </a:r>
            <a:r>
              <a:rPr dirty="0" err="1"/>
              <a:t>보니</a:t>
            </a:r>
            <a:r>
              <a:rPr dirty="0"/>
              <a:t> t0.getClass()</a:t>
            </a:r>
            <a:r>
              <a:rPr dirty="0" err="1"/>
              <a:t>에서</a:t>
            </a:r>
            <a:r>
              <a:rPr dirty="0"/>
              <a:t> return </a:t>
            </a:r>
            <a:r>
              <a:rPr dirty="0" err="1"/>
              <a:t>된</a:t>
            </a:r>
            <a:r>
              <a:rPr dirty="0"/>
              <a:t> </a:t>
            </a:r>
            <a:r>
              <a:rPr dirty="0" err="1"/>
              <a:t>object는</a:t>
            </a:r>
            <a:endParaRPr dirty="0"/>
          </a:p>
          <a:p>
            <a:r>
              <a:rPr dirty="0"/>
              <a:t>class TempClass0로 </a:t>
            </a:r>
            <a:r>
              <a:rPr dirty="0" err="1"/>
              <a:t>print되었습니다</a:t>
            </a:r>
            <a:r>
              <a:rPr dirty="0"/>
              <a:t>.  </a:t>
            </a:r>
          </a:p>
          <a:p>
            <a:endParaRPr dirty="0"/>
          </a:p>
          <a:p>
            <a:endParaRPr dirty="0"/>
          </a:p>
          <a:p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hape 73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4" name="Shape 74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 err="1"/>
              <a:t>페이지</a:t>
            </a:r>
            <a:r>
              <a:rPr dirty="0"/>
              <a:t> 6</a:t>
            </a:r>
          </a:p>
          <a:p>
            <a:endParaRPr dirty="0"/>
          </a:p>
          <a:p>
            <a:r>
              <a:rPr dirty="0" err="1"/>
              <a:t>앞</a:t>
            </a:r>
            <a:r>
              <a:rPr dirty="0"/>
              <a:t> </a:t>
            </a:r>
            <a:r>
              <a:rPr dirty="0" err="1"/>
              <a:t>슬라이드의</a:t>
            </a:r>
            <a:r>
              <a:rPr dirty="0"/>
              <a:t> </a:t>
            </a:r>
            <a:r>
              <a:rPr dirty="0" err="1"/>
              <a:t>예와</a:t>
            </a:r>
            <a:r>
              <a:rPr dirty="0"/>
              <a:t> </a:t>
            </a:r>
            <a:r>
              <a:rPr dirty="0" err="1"/>
              <a:t>같이</a:t>
            </a:r>
            <a:r>
              <a:rPr dirty="0"/>
              <a:t> TempClass0 </a:t>
            </a:r>
            <a:r>
              <a:rPr dirty="0" err="1"/>
              <a:t>object인</a:t>
            </a:r>
            <a:r>
              <a:rPr dirty="0"/>
              <a:t> t0를 </a:t>
            </a:r>
            <a:r>
              <a:rPr dirty="0" err="1"/>
              <a:t>생성하였고</a:t>
            </a:r>
            <a:endParaRPr dirty="0"/>
          </a:p>
          <a:p>
            <a:r>
              <a:rPr dirty="0"/>
              <a:t>t0.getClass()를 </a:t>
            </a:r>
            <a:r>
              <a:rPr dirty="0" err="1"/>
              <a:t>call하여</a:t>
            </a:r>
            <a:r>
              <a:rPr dirty="0"/>
              <a:t> </a:t>
            </a:r>
            <a:r>
              <a:rPr dirty="0" err="1"/>
              <a:t>보았습니다</a:t>
            </a:r>
            <a:r>
              <a:rPr dirty="0"/>
              <a:t>. </a:t>
            </a:r>
          </a:p>
          <a:p>
            <a:r>
              <a:rPr dirty="0" err="1"/>
              <a:t>그리고</a:t>
            </a:r>
            <a:r>
              <a:rPr dirty="0"/>
              <a:t> </a:t>
            </a:r>
            <a:r>
              <a:rPr dirty="0" err="1"/>
              <a:t>나서</a:t>
            </a:r>
            <a:r>
              <a:rPr dirty="0"/>
              <a:t> </a:t>
            </a:r>
            <a:r>
              <a:rPr dirty="0" err="1"/>
              <a:t>Class.forName</a:t>
            </a:r>
            <a:r>
              <a:rPr dirty="0"/>
              <a:t>(“TempClass0”) 를 call </a:t>
            </a:r>
            <a:r>
              <a:rPr dirty="0" err="1"/>
              <a:t>하는데</a:t>
            </a:r>
            <a:endParaRPr dirty="0"/>
          </a:p>
          <a:p>
            <a:r>
              <a:rPr dirty="0"/>
              <a:t> </a:t>
            </a:r>
            <a:r>
              <a:rPr dirty="0" err="1"/>
              <a:t>forName은</a:t>
            </a:r>
            <a:r>
              <a:rPr dirty="0"/>
              <a:t> </a:t>
            </a:r>
            <a:r>
              <a:rPr dirty="0" err="1"/>
              <a:t>Class의</a:t>
            </a:r>
            <a:r>
              <a:rPr dirty="0"/>
              <a:t> static </a:t>
            </a:r>
            <a:r>
              <a:rPr dirty="0" err="1"/>
              <a:t>method로서</a:t>
            </a:r>
            <a:endParaRPr dirty="0"/>
          </a:p>
          <a:p>
            <a:r>
              <a:rPr dirty="0"/>
              <a:t>“TempClass0” 를 </a:t>
            </a:r>
            <a:r>
              <a:rPr dirty="0" err="1"/>
              <a:t>이름으로</a:t>
            </a:r>
            <a:r>
              <a:rPr dirty="0"/>
              <a:t> </a:t>
            </a:r>
            <a:r>
              <a:rPr dirty="0" err="1"/>
              <a:t>가지는</a:t>
            </a:r>
            <a:r>
              <a:rPr dirty="0"/>
              <a:t> </a:t>
            </a:r>
            <a:r>
              <a:rPr dirty="0" err="1"/>
              <a:t>class를</a:t>
            </a:r>
            <a:r>
              <a:rPr dirty="0"/>
              <a:t> </a:t>
            </a:r>
            <a:r>
              <a:rPr dirty="0" err="1"/>
              <a:t>찾아서</a:t>
            </a:r>
            <a:r>
              <a:rPr dirty="0"/>
              <a:t> </a:t>
            </a:r>
            <a:r>
              <a:rPr dirty="0" err="1"/>
              <a:t>그</a:t>
            </a:r>
            <a:r>
              <a:rPr dirty="0"/>
              <a:t> </a:t>
            </a:r>
            <a:r>
              <a:rPr dirty="0" err="1"/>
              <a:t>info인</a:t>
            </a:r>
            <a:r>
              <a:rPr dirty="0"/>
              <a:t> Class </a:t>
            </a:r>
            <a:r>
              <a:rPr dirty="0" err="1"/>
              <a:t>object를</a:t>
            </a:r>
            <a:r>
              <a:rPr dirty="0"/>
              <a:t> </a:t>
            </a:r>
            <a:r>
              <a:rPr dirty="0" err="1"/>
              <a:t>return합니다</a:t>
            </a:r>
            <a:r>
              <a:rPr dirty="0"/>
              <a:t>. </a:t>
            </a:r>
          </a:p>
          <a:p>
            <a:r>
              <a:rPr dirty="0" err="1"/>
              <a:t>즉</a:t>
            </a:r>
            <a:r>
              <a:rPr dirty="0"/>
              <a:t> t0.getClass()</a:t>
            </a:r>
            <a:r>
              <a:rPr dirty="0" err="1"/>
              <a:t>가</a:t>
            </a:r>
            <a:r>
              <a:rPr dirty="0"/>
              <a:t> </a:t>
            </a:r>
            <a:r>
              <a:rPr dirty="0" err="1"/>
              <a:t>return하는</a:t>
            </a:r>
            <a:r>
              <a:rPr dirty="0"/>
              <a:t> Class </a:t>
            </a:r>
            <a:r>
              <a:rPr dirty="0" err="1"/>
              <a:t>object와</a:t>
            </a:r>
            <a:r>
              <a:rPr dirty="0"/>
              <a:t> </a:t>
            </a:r>
            <a:r>
              <a:rPr dirty="0" err="1"/>
              <a:t>같은</a:t>
            </a:r>
            <a:r>
              <a:rPr dirty="0"/>
              <a:t> </a:t>
            </a:r>
            <a:r>
              <a:rPr dirty="0" err="1"/>
              <a:t>것을</a:t>
            </a:r>
            <a:r>
              <a:rPr dirty="0"/>
              <a:t> return </a:t>
            </a:r>
            <a:r>
              <a:rPr dirty="0" err="1"/>
              <a:t>해야</a:t>
            </a:r>
            <a:r>
              <a:rPr dirty="0"/>
              <a:t> </a:t>
            </a:r>
            <a:r>
              <a:rPr dirty="0" err="1"/>
              <a:t>하는</a:t>
            </a:r>
            <a:r>
              <a:rPr dirty="0"/>
              <a:t> </a:t>
            </a:r>
            <a:r>
              <a:rPr dirty="0" err="1"/>
              <a:t>것입니다</a:t>
            </a:r>
            <a:r>
              <a:rPr dirty="0"/>
              <a:t>. </a:t>
            </a:r>
          </a:p>
          <a:p>
            <a:r>
              <a:rPr dirty="0" err="1"/>
              <a:t>그러나</a:t>
            </a:r>
            <a:r>
              <a:rPr dirty="0"/>
              <a:t> </a:t>
            </a:r>
            <a:r>
              <a:rPr dirty="0" err="1"/>
              <a:t>아래</a:t>
            </a:r>
            <a:r>
              <a:rPr dirty="0"/>
              <a:t> </a:t>
            </a:r>
            <a:r>
              <a:rPr dirty="0" err="1"/>
              <a:t>box에서</a:t>
            </a:r>
            <a:r>
              <a:rPr dirty="0"/>
              <a:t> </a:t>
            </a:r>
            <a:r>
              <a:rPr dirty="0" err="1"/>
              <a:t>보이듯이</a:t>
            </a:r>
            <a:r>
              <a:rPr dirty="0"/>
              <a:t> 이 </a:t>
            </a:r>
            <a:r>
              <a:rPr dirty="0" err="1"/>
              <a:t>프로그램은</a:t>
            </a:r>
            <a:r>
              <a:rPr dirty="0"/>
              <a:t> compile </a:t>
            </a:r>
            <a:r>
              <a:rPr dirty="0" err="1"/>
              <a:t>error가</a:t>
            </a:r>
            <a:r>
              <a:rPr dirty="0"/>
              <a:t> </a:t>
            </a:r>
            <a:r>
              <a:rPr dirty="0" err="1"/>
              <a:t>나게</a:t>
            </a:r>
            <a:r>
              <a:rPr dirty="0"/>
              <a:t> </a:t>
            </a:r>
            <a:r>
              <a:rPr dirty="0" err="1"/>
              <a:t>되는데</a:t>
            </a:r>
            <a:endParaRPr dirty="0"/>
          </a:p>
          <a:p>
            <a:r>
              <a:rPr dirty="0" err="1"/>
              <a:t>Class.forName</a:t>
            </a:r>
            <a:r>
              <a:rPr dirty="0"/>
              <a:t>(“TempClass0”) </a:t>
            </a:r>
            <a:r>
              <a:rPr dirty="0" err="1"/>
              <a:t>을</a:t>
            </a:r>
            <a:r>
              <a:rPr dirty="0"/>
              <a:t> </a:t>
            </a:r>
            <a:r>
              <a:rPr dirty="0" err="1"/>
              <a:t>call하는</a:t>
            </a:r>
            <a:r>
              <a:rPr dirty="0"/>
              <a:t> </a:t>
            </a:r>
            <a:r>
              <a:rPr dirty="0" err="1"/>
              <a:t>부분에서</a:t>
            </a:r>
            <a:endParaRPr dirty="0"/>
          </a:p>
          <a:p>
            <a:r>
              <a:rPr dirty="0" err="1"/>
              <a:t>그</a:t>
            </a:r>
            <a:r>
              <a:rPr dirty="0"/>
              <a:t> </a:t>
            </a:r>
            <a:r>
              <a:rPr dirty="0" err="1"/>
              <a:t>이름을</a:t>
            </a:r>
            <a:r>
              <a:rPr dirty="0"/>
              <a:t> </a:t>
            </a:r>
            <a:r>
              <a:rPr dirty="0" err="1"/>
              <a:t>가진</a:t>
            </a:r>
            <a:r>
              <a:rPr dirty="0"/>
              <a:t> </a:t>
            </a:r>
            <a:r>
              <a:rPr dirty="0" err="1"/>
              <a:t>class가</a:t>
            </a:r>
            <a:r>
              <a:rPr dirty="0"/>
              <a:t> </a:t>
            </a:r>
            <a:r>
              <a:rPr dirty="0" err="1"/>
              <a:t>현재</a:t>
            </a:r>
            <a:r>
              <a:rPr dirty="0"/>
              <a:t> application </a:t>
            </a:r>
            <a:r>
              <a:rPr dirty="0" err="1"/>
              <a:t>내에</a:t>
            </a:r>
            <a:r>
              <a:rPr dirty="0"/>
              <a:t> </a:t>
            </a:r>
            <a:r>
              <a:rPr dirty="0" err="1"/>
              <a:t>존재하지</a:t>
            </a:r>
            <a:r>
              <a:rPr dirty="0"/>
              <a:t> </a:t>
            </a:r>
            <a:r>
              <a:rPr dirty="0" err="1"/>
              <a:t>않을</a:t>
            </a:r>
            <a:r>
              <a:rPr dirty="0"/>
              <a:t> </a:t>
            </a:r>
            <a:r>
              <a:rPr dirty="0" err="1"/>
              <a:t>경우를</a:t>
            </a:r>
            <a:r>
              <a:rPr dirty="0"/>
              <a:t> </a:t>
            </a:r>
            <a:r>
              <a:rPr dirty="0" err="1"/>
              <a:t>대비하여</a:t>
            </a:r>
            <a:r>
              <a:rPr dirty="0"/>
              <a:t> </a:t>
            </a:r>
          </a:p>
          <a:p>
            <a:r>
              <a:rPr dirty="0" err="1"/>
              <a:t>Exception을</a:t>
            </a:r>
            <a:r>
              <a:rPr dirty="0"/>
              <a:t> </a:t>
            </a:r>
            <a:r>
              <a:rPr dirty="0" err="1"/>
              <a:t>handling하는</a:t>
            </a:r>
            <a:r>
              <a:rPr dirty="0"/>
              <a:t> </a:t>
            </a:r>
            <a:r>
              <a:rPr dirty="0" err="1"/>
              <a:t>code를</a:t>
            </a:r>
            <a:r>
              <a:rPr dirty="0"/>
              <a:t> </a:t>
            </a:r>
            <a:r>
              <a:rPr dirty="0" err="1"/>
              <a:t>쓰지</a:t>
            </a:r>
            <a:r>
              <a:rPr dirty="0"/>
              <a:t> </a:t>
            </a:r>
            <a:r>
              <a:rPr dirty="0" err="1"/>
              <a:t>않았기</a:t>
            </a:r>
            <a:r>
              <a:rPr dirty="0"/>
              <a:t> </a:t>
            </a:r>
            <a:r>
              <a:rPr dirty="0" err="1"/>
              <a:t>때문에</a:t>
            </a:r>
            <a:r>
              <a:rPr dirty="0"/>
              <a:t> </a:t>
            </a:r>
          </a:p>
          <a:p>
            <a:r>
              <a:rPr dirty="0"/>
              <a:t>compile </a:t>
            </a:r>
            <a:r>
              <a:rPr dirty="0" err="1"/>
              <a:t>error가</a:t>
            </a:r>
            <a:r>
              <a:rPr dirty="0"/>
              <a:t> </a:t>
            </a:r>
            <a:r>
              <a:rPr dirty="0" err="1"/>
              <a:t>나게</a:t>
            </a:r>
            <a:r>
              <a:rPr dirty="0"/>
              <a:t> </a:t>
            </a:r>
            <a:r>
              <a:rPr dirty="0" err="1"/>
              <a:t>됩니다</a:t>
            </a:r>
            <a:r>
              <a:rPr dirty="0"/>
              <a:t>. </a:t>
            </a:r>
          </a:p>
          <a:p>
            <a:r>
              <a:rPr dirty="0" err="1"/>
              <a:t>이렇게</a:t>
            </a:r>
            <a:r>
              <a:rPr dirty="0"/>
              <a:t> compile </a:t>
            </a:r>
            <a:r>
              <a:rPr dirty="0" err="1"/>
              <a:t>error가</a:t>
            </a:r>
            <a:r>
              <a:rPr dirty="0"/>
              <a:t> </a:t>
            </a:r>
            <a:r>
              <a:rPr dirty="0" err="1"/>
              <a:t>나는</a:t>
            </a:r>
            <a:r>
              <a:rPr dirty="0"/>
              <a:t> </a:t>
            </a:r>
            <a:r>
              <a:rPr dirty="0" err="1"/>
              <a:t>것은</a:t>
            </a:r>
            <a:r>
              <a:rPr dirty="0"/>
              <a:t> </a:t>
            </a:r>
            <a:r>
              <a:rPr dirty="0" err="1"/>
              <a:t>ClassNotFoundException이</a:t>
            </a:r>
            <a:r>
              <a:rPr dirty="0"/>
              <a:t> </a:t>
            </a:r>
          </a:p>
          <a:p>
            <a:r>
              <a:rPr dirty="0"/>
              <a:t>General </a:t>
            </a:r>
            <a:r>
              <a:rPr dirty="0" err="1"/>
              <a:t>Exception이기</a:t>
            </a:r>
            <a:r>
              <a:rPr dirty="0"/>
              <a:t> </a:t>
            </a:r>
            <a:r>
              <a:rPr dirty="0" err="1"/>
              <a:t>때문입니다</a:t>
            </a:r>
            <a:r>
              <a:rPr dirty="0"/>
              <a:t>. 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hape 83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84" name="Shape 84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페이지 7</a:t>
            </a:r>
          </a:p>
          <a:p>
            <a:endParaRPr/>
          </a:p>
          <a:p>
            <a:r>
              <a:t>이제 ClassNotFoundException handling을 제대로 해 둠으로써 </a:t>
            </a:r>
          </a:p>
          <a:p>
            <a:r>
              <a:t>compile error를 방지하고자 합니다. </a:t>
            </a:r>
          </a:p>
          <a:p>
            <a:r>
              <a:t>TempClass1 object인 t1을 생성했고</a:t>
            </a:r>
          </a:p>
          <a:p>
            <a:r>
              <a:t>t1.getClass() 도 정상적으로 실행되었습니다. </a:t>
            </a:r>
          </a:p>
          <a:p>
            <a:r>
              <a:t>그 다음에 Class.forName(“TempClass1”)을 실행하는 부분을</a:t>
            </a:r>
          </a:p>
          <a:p>
            <a:r>
              <a:t>try block으로 감쌌습니다. </a:t>
            </a:r>
          </a:p>
          <a:p>
            <a:r>
              <a:t>이 handling code 때문에 compile error는 일어나지 않았으며</a:t>
            </a:r>
          </a:p>
          <a:p>
            <a:r>
              <a:t>Class.forName(“TempClass1”) 은 classInfo를 정상적으로 return하여</a:t>
            </a:r>
          </a:p>
          <a:p>
            <a:r>
              <a:t>class TempClass1 이라는 output을 print하게 됩니다. </a:t>
            </a:r>
          </a:p>
          <a:p>
            <a:r>
              <a:t>또 classInfo.getName() call은 </a:t>
            </a:r>
          </a:p>
          <a:p>
            <a:r>
              <a:t>다시 class의 이름인 String “TempClass1” 을 return하게 됩니다. </a:t>
            </a:r>
          </a:p>
          <a:p>
            <a:r>
              <a:t>만일 TempClass1이 현재 application에 존재하지 않는 경우 발생하는</a:t>
            </a:r>
          </a:p>
          <a:p>
            <a:r>
              <a:t>ClassNotFoundException 을 catch block에서 catch하여</a:t>
            </a:r>
          </a:p>
          <a:p>
            <a:r>
              <a:t>exception handling을 하는 code를 추가했습니다. </a:t>
            </a:r>
          </a:p>
          <a:p>
            <a:r>
              <a:t>try-catch mechanism 에 대해서는 </a:t>
            </a:r>
          </a:p>
          <a:p>
            <a:r>
              <a:t>나중에 더 자세히 공부할 것입니다. </a:t>
            </a:r>
          </a:p>
          <a:p>
            <a:r>
              <a:t> 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hape 95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6" name="Shape 96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페이지 8</a:t>
            </a:r>
          </a:p>
          <a:p>
            <a:endParaRPr/>
          </a:p>
          <a:p>
            <a:r>
              <a:t>이 example에서는 지면 관계로 몇 개의 import 문을 생략했으며</a:t>
            </a:r>
          </a:p>
          <a:p>
            <a:r>
              <a:t>완전한 code는 배포된 code를 참고하시기 바랍니다. </a:t>
            </a:r>
          </a:p>
          <a:p>
            <a:r>
              <a:t>또다른 General Exception인 java.io.IOException에 대해 살펴 보겠습니다. </a:t>
            </a:r>
          </a:p>
          <a:p>
            <a:r>
              <a:t>FileReader object를 “example.txt” 파일을 open하면서 생성하는 부분에서</a:t>
            </a:r>
          </a:p>
          <a:p>
            <a:r>
              <a:t>“example.txt” 파일이 .class 파일과 같은 folder안에 존재하지 않는 경우</a:t>
            </a:r>
          </a:p>
          <a:p>
            <a:r>
              <a:t>IOException이 발생하게 됩니다. </a:t>
            </a:r>
          </a:p>
          <a:p>
            <a:r>
              <a:t>IOException은 General Exception이기 때문에</a:t>
            </a:r>
          </a:p>
          <a:p>
            <a:r>
              <a:t>IOException의 handling code를 쓰지 않은 경우에는</a:t>
            </a:r>
          </a:p>
          <a:p>
            <a:r>
              <a:t>compile error가 나게 됩니다. </a:t>
            </a:r>
          </a:p>
          <a:p>
            <a:r>
              <a:t>따라서 이 경우에도 FileReader의 생성을 try block안에서 실행하고</a:t>
            </a:r>
          </a:p>
          <a:p>
            <a:r>
              <a:t>IOException이 일어날 경우 그것을 handling하는 code를</a:t>
            </a:r>
          </a:p>
          <a:p>
            <a:r>
              <a:t>catch block 안에 두어야 합니다. </a:t>
            </a:r>
          </a:p>
          <a:p>
            <a:r>
              <a:t>이 example program의 경우 “example.txt” 파일이 존재하지 않아서</a:t>
            </a:r>
          </a:p>
          <a:p>
            <a:r>
              <a:t>FileReader를 생성할 때 실제로 IOException이 일어나게 됩니다. </a:t>
            </a:r>
          </a:p>
          <a:p>
            <a:r>
              <a:t>따라서 catch block 안에서 IOException을 handling하게 되는데</a:t>
            </a:r>
          </a:p>
          <a:p>
            <a:r>
              <a:t>먼저 “파일을 read 중에 오류가 발생” 이라는 메시지와</a:t>
            </a:r>
          </a:p>
          <a:p>
            <a:r>
              <a:t>IOException 안에 기존에 포함되어 있는 e.getMessage() 인</a:t>
            </a:r>
          </a:p>
          <a:p>
            <a:r>
              <a:t>“example.txt (No such file or directory)” 를 print합니다. </a:t>
            </a:r>
          </a:p>
          <a:p>
            <a:r>
              <a:t>e.printStackTrace() 를 call하면</a:t>
            </a:r>
          </a:p>
          <a:p>
            <a:r>
              <a:t>program에서 IOException이 발생한 위치까지 </a:t>
            </a:r>
          </a:p>
          <a:p>
            <a:r>
              <a:t>어떤 method들이 차례로 실행되고 call되었는지를 나타내는</a:t>
            </a:r>
          </a:p>
          <a:p>
            <a:r>
              <a:t>stack trace가 print됩니다. </a:t>
            </a:r>
          </a:p>
          <a:p>
            <a:r>
              <a:t>stack trace에서 보면 가장 아랫줄에 </a:t>
            </a:r>
          </a:p>
          <a:p>
            <a:r>
              <a:t>IOExceptionExample.java의 9번째 line에 있는</a:t>
            </a:r>
          </a:p>
          <a:p>
            <a:r>
              <a:t>IOExceptionExample.main method에서 </a:t>
            </a:r>
          </a:p>
          <a:p>
            <a:r>
              <a:t>java.io.FileNotFoundException이 발생합니다. </a:t>
            </a:r>
          </a:p>
          <a:p>
            <a:r>
              <a:t>FileNotFoundException은 IOException의 descendant입니다. </a:t>
            </a:r>
          </a:p>
          <a:p>
            <a:r>
              <a:t>그 위로 역순으로 call된 method들이 차례로 나열되게 됩니다. </a:t>
            </a:r>
          </a:p>
          <a:p>
            <a:r>
              <a:t> </a:t>
            </a:r>
          </a:p>
          <a:p>
            <a:endParaRPr/>
          </a:p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hape 103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4" name="Shape 104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페이지 9</a:t>
            </a:r>
          </a:p>
          <a:p>
            <a:endParaRPr/>
          </a:p>
          <a:p>
            <a:r>
              <a:t>이제 Runtime Exception들을 살펴 보도록 하겠습니다. </a:t>
            </a:r>
          </a:p>
          <a:p>
            <a:r>
              <a:t>NullPointerException은 이미 우리가 reference type에 대해 처음 배울때</a:t>
            </a:r>
          </a:p>
          <a:p>
            <a:r>
              <a:t>한번 본적이 있는 것입니다. </a:t>
            </a:r>
          </a:p>
          <a:p>
            <a:r>
              <a:t>String str1은 declare만 하였고 어떤 object도 reference하지 않고 있으며</a:t>
            </a:r>
          </a:p>
          <a:p>
            <a:r>
              <a:t>String str2는 null로 initialize되어 있습니다. </a:t>
            </a:r>
          </a:p>
          <a:p>
            <a:r>
              <a:t>이제 str1.toString() 을 coding하는 단계에서는</a:t>
            </a:r>
          </a:p>
          <a:p>
            <a:r>
              <a:t>compile error가 나게 됩니다. </a:t>
            </a:r>
          </a:p>
          <a:p>
            <a:r>
              <a:t>str1이 가리키는 것이 어떤 의미있는 object가 아니기 때문입니다. </a:t>
            </a:r>
          </a:p>
          <a:p>
            <a:r>
              <a:t>한편 str2.toString()을 call하는 것은</a:t>
            </a:r>
          </a:p>
          <a:p>
            <a:r>
              <a:t>compile error가 나지는 않습니다. </a:t>
            </a:r>
          </a:p>
          <a:p>
            <a:r>
              <a:t>str2가 무엇인가로 (여기서는 null로) 초기화 되어 있기 때문입니다. </a:t>
            </a:r>
          </a:p>
          <a:p>
            <a:r>
              <a:t>하지만 null object는 dereference되지 못하며</a:t>
            </a:r>
          </a:p>
          <a:p>
            <a:r>
              <a:t>의미있는 toString() method를 가지고 있지 않기 때문에 </a:t>
            </a:r>
          </a:p>
          <a:p>
            <a:r>
              <a:t>실행 도중 이 명령을 만났을 때</a:t>
            </a:r>
          </a:p>
          <a:p>
            <a:r>
              <a:t>runtime exception인 NullPointerException이 발생하게 됩니다. </a:t>
            </a:r>
          </a:p>
          <a:p>
            <a:r>
              <a:t>하지만 이 프로그램에서는 NullPointerException을 handling하는</a:t>
            </a:r>
          </a:p>
          <a:p>
            <a:r>
              <a:t>아무런 handling code가 없기 때문에 </a:t>
            </a:r>
          </a:p>
          <a:p>
            <a:r>
              <a:t>즉시 프로그램이 중단되면서 </a:t>
            </a:r>
          </a:p>
          <a:p>
            <a:r>
              <a:t>아래 box의 “Exception in thread “main” java.lang.NullPointerException….” </a:t>
            </a:r>
          </a:p>
          <a:p>
            <a:r>
              <a:t>과 같은 message가 프린트 됩니다. </a:t>
            </a:r>
          </a:p>
          <a:p>
            <a:r>
              <a:t>이와 같은 runtime exception의 handling에 대해서는</a:t>
            </a:r>
          </a:p>
          <a:p>
            <a:r>
              <a:t>다음 노트에서 자세히 살펴보도록 하겠습니다. 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Shape 11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2" name="Shape 11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페이지 10</a:t>
            </a:r>
          </a:p>
          <a:p>
            <a:endParaRPr/>
          </a:p>
          <a:p>
            <a:r>
              <a:t>이번에는 length 3인 String array인 strArray를 고려합니다. </a:t>
            </a:r>
          </a:p>
          <a:p>
            <a:r>
              <a:t>첫번째 element인 strArray[0]에는 “Korea” 를 assign 했습니다. </a:t>
            </a:r>
          </a:p>
          <a:p>
            <a:r>
              <a:t>그 다음에 strArray[3]에 “Seoul” 을 assign 하려 했는데 </a:t>
            </a:r>
          </a:p>
          <a:p>
            <a:r>
              <a:t>이 실행과정에서 java.lang.ArrayIndexOutOfBoundsException이 </a:t>
            </a:r>
          </a:p>
          <a:p>
            <a:r>
              <a:t>발생하게 됩니다. </a:t>
            </a:r>
          </a:p>
          <a:p>
            <a:r>
              <a:t>왜냐하면 strArray는 length가 3이고 </a:t>
            </a:r>
          </a:p>
          <a:p>
            <a:r>
              <a:t>strArray[2]가 마지막 element이기 때문입니다. </a:t>
            </a:r>
          </a:p>
          <a:p>
            <a:r>
              <a:t>이렇게 array의 index 범위를 벗어났을 때 발생하는 runtime exception이</a:t>
            </a:r>
          </a:p>
          <a:p>
            <a:r>
              <a:t>java.lang.ArrayIndexOutOfBoundsException 입니다. </a:t>
            </a:r>
          </a:p>
          <a:p>
            <a:r>
              <a:t>아래의 box 안에서 exception 발생으로 프로그램이 끝난 이후</a:t>
            </a:r>
          </a:p>
          <a:p>
            <a:r>
              <a:t>print되는 message를 볼 수 있습니다. 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Shape 118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9" name="Shape 119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페이지 11</a:t>
            </a:r>
          </a:p>
          <a:p>
            <a:endParaRPr/>
          </a:p>
          <a:p>
            <a:r>
              <a:t>이번에는 java.lang.NumberFormatException 입니다. </a:t>
            </a:r>
          </a:p>
          <a:p>
            <a:r>
              <a:t>str1에는 string “132.68” 이 assign 되었고</a:t>
            </a:r>
          </a:p>
          <a:p>
            <a:r>
              <a:t>str2에는 string “abcde” 가 assign 되었습니다. </a:t>
            </a:r>
          </a:p>
          <a:p>
            <a:r>
              <a:t>Wrapper class인 Integer.parseInt(str1) 을 이용하여 </a:t>
            </a:r>
          </a:p>
          <a:p>
            <a:r>
              <a:t>“132.68” 을 int 로 convert하려고 하는 순간</a:t>
            </a:r>
          </a:p>
          <a:p>
            <a:r>
              <a:t>NumberFormatException이 일어납니다. </a:t>
            </a:r>
          </a:p>
          <a:p>
            <a:r>
              <a:t>“132.68” 은 소수점 이하가 존재하는 실수를 나타내는 String 이므로</a:t>
            </a:r>
          </a:p>
          <a:p>
            <a:r>
              <a:t>이를 int 로 바꾸는 것이 exception을 발생시키는 것입니다. </a:t>
            </a:r>
          </a:p>
          <a:p>
            <a:r>
              <a:t>이 때 프로그램은 즉시 중단됩니다. </a:t>
            </a:r>
          </a:p>
          <a:p>
            <a:r>
              <a:t>그러나 만일 Integer.parseInt() 가 없었다면</a:t>
            </a:r>
          </a:p>
          <a:p>
            <a:r>
              <a:t>그 아래 줄의 Double.parseDouble(“abcde”) 도 </a:t>
            </a:r>
          </a:p>
          <a:p>
            <a:r>
              <a:t>같은 exception인 NumberFormatException을 발생시킬 것입니다. </a:t>
            </a:r>
          </a:p>
          <a:p>
            <a:r>
              <a:t>“abcde”는 double type의 숫자로 바꿀 수 없기 때문입니다. </a:t>
            </a:r>
          </a:p>
          <a:p>
            <a:r>
              <a:t>아래쪽의 메시지는 Integer.parseInt()에서 프로그래밍 중단된 후 </a:t>
            </a:r>
          </a:p>
          <a:p>
            <a:r>
              <a:t>프린트 되는 메시지를 보여줍니다. </a:t>
            </a:r>
          </a:p>
          <a:p>
            <a:r>
              <a:t>이 프로그램도 역시 exception handling은 하지 않았고</a:t>
            </a:r>
          </a:p>
          <a:p>
            <a:r>
              <a:t>어떻게 handling을 할 수 있을지는 </a:t>
            </a:r>
          </a:p>
          <a:p>
            <a:r>
              <a:t>다음 노트에서 자세하게 학습할 것입니다. </a:t>
            </a:r>
          </a:p>
          <a:p>
            <a:r>
              <a:t> 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125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26" name="Shape 126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페이지 12</a:t>
            </a:r>
          </a:p>
          <a:p>
            <a:endParaRPr/>
          </a:p>
          <a:p>
            <a:r>
              <a:t>이번에는 InputMismatchException에 대해 살펴 보겠습니다. </a:t>
            </a:r>
          </a:p>
          <a:p>
            <a:r>
              <a:t>이 runtime exception은 Scanner를 사용하여 input하는 값이</a:t>
            </a:r>
          </a:p>
          <a:p>
            <a:r>
              <a:t>읽어들이는 next…() method가 기대하는 type과 다른 경우, </a:t>
            </a:r>
          </a:p>
          <a:p>
            <a:r>
              <a:t>또는 읽어들이는 value가 range를 벗어날 경우 발생하게 됩니다. </a:t>
            </a:r>
          </a:p>
          <a:p>
            <a:r>
              <a:t>InputMismatchException은 java.util package에 있습니다. </a:t>
            </a:r>
          </a:p>
          <a:p>
            <a:r>
              <a:t>예제 코드에서는 먼저 java.util.InputMismatchException과 </a:t>
            </a:r>
          </a:p>
          <a:p>
            <a:r>
              <a:t>java.util.Scanner를 import 하였습니다. </a:t>
            </a:r>
          </a:p>
          <a:p>
            <a:r>
              <a:t>Scanner object인 scanner를 생성한 후</a:t>
            </a:r>
          </a:p>
          <a:p>
            <a:r>
              <a:t>“Input an integer: “ 라는 prompt를 print하였습니다. </a:t>
            </a:r>
          </a:p>
          <a:p>
            <a:r>
              <a:t>여기에서 사용자가 “abcd” 라는 input을 입력하였다면</a:t>
            </a:r>
          </a:p>
          <a:p>
            <a:r>
              <a:t>scanner.nextInt()를 call하는 부분에서 </a:t>
            </a:r>
          </a:p>
          <a:p>
            <a:r>
              <a:t>InputMismatchException이 발생하게 됩니다. </a:t>
            </a:r>
          </a:p>
          <a:p>
            <a:r>
              <a:t>왜냐하면 “abcd” 를 정수로 읽어들일 수 없기 때문입니다. </a:t>
            </a:r>
          </a:p>
          <a:p>
            <a:r>
              <a:t>이 때 프로그램은 즉시 중단되며</a:t>
            </a:r>
          </a:p>
          <a:p>
            <a:r>
              <a:t>아래쪽 박스 안의 메시지들을 프린트하게 됩니다. </a:t>
            </a:r>
          </a:p>
          <a:p>
            <a:r>
              <a:t>메시지 맨 끝 줄의 main method부터 시작하여</a:t>
            </a:r>
          </a:p>
          <a:p>
            <a:r>
              <a:t>method call들이 순서대로 보여지는 </a:t>
            </a:r>
          </a:p>
          <a:p>
            <a:r>
              <a:t>runtime stack의 현재 상태가 </a:t>
            </a:r>
          </a:p>
          <a:p>
            <a:r>
              <a:t>프린트되고 있습니다. 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132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33" name="Shape 133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페이지 13</a:t>
            </a:r>
          </a:p>
          <a:p>
            <a:endParaRPr/>
          </a:p>
          <a:p>
            <a:r>
              <a:t>java.lang.ArithmeticException도 또다른 runtime exception 입니다. </a:t>
            </a:r>
          </a:p>
          <a:p>
            <a:r>
              <a:t>이 exception이 일어나는 대표적인 경우는</a:t>
            </a:r>
          </a:p>
          <a:p>
            <a:r>
              <a:t>0으로 나누는 arithmetic operation이 시도되는 경우 입니다. </a:t>
            </a:r>
          </a:p>
          <a:p>
            <a:r>
              <a:t>예제 프로그램에서도 0인 divisor 값으로 dividend 10을 나누려 시도했는데</a:t>
            </a:r>
          </a:p>
          <a:p>
            <a:r>
              <a:t>아래의 box 안의 메시지가 프린트되면서 </a:t>
            </a:r>
          </a:p>
          <a:p>
            <a:r>
              <a:t>프로그램은 즉시 실행을 멈추게 됩니다. 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Shape 139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40" name="Shape 140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페이지 14</a:t>
            </a:r>
          </a:p>
          <a:p>
            <a:endParaRPr/>
          </a:p>
          <a:p>
            <a:r>
              <a:t>runtime exception인 java.lang.ClassCastException에 대해 살펴봅니다. </a:t>
            </a:r>
          </a:p>
          <a:p>
            <a:r>
              <a:t>class Vehicle이 정의되었고</a:t>
            </a:r>
          </a:p>
          <a:p>
            <a:r>
              <a:t>class Auto와 class Bicycle은 Vehicle을 inherit한 children들입니다. </a:t>
            </a:r>
          </a:p>
          <a:p>
            <a:r>
              <a:t>Vehicle type variable인 vec1과 vec2에 </a:t>
            </a:r>
          </a:p>
          <a:p>
            <a:r>
              <a:t>각각 Auto와 Bicycle object를 assign하였습니다. </a:t>
            </a:r>
          </a:p>
          <a:p>
            <a:r>
              <a:t>이 때 Auto type인 auto1과 auto2에 </a:t>
            </a:r>
          </a:p>
          <a:p>
            <a:r>
              <a:t>vec1을 downcasting하는 것은 가능합니다. </a:t>
            </a:r>
          </a:p>
          <a:p>
            <a:r>
              <a:t>vec1의 original class가 Auto이기 때문입니다. </a:t>
            </a:r>
          </a:p>
          <a:p>
            <a:r>
              <a:t>또 Bicycle type인 by에 vec2를 downcasting하는 것도 가능합니다. </a:t>
            </a:r>
          </a:p>
          <a:p>
            <a:r>
              <a:t>vec2의 original class가 Bicycle이기 때문입니다. </a:t>
            </a:r>
          </a:p>
          <a:p>
            <a:r>
              <a:t>그러나 맨 마지막에 Auto type인 auto3에 </a:t>
            </a:r>
          </a:p>
          <a:p>
            <a:r>
              <a:t>vec2를 downcasting하는 것은 ClassCastException을 발생시킵니다. </a:t>
            </a:r>
          </a:p>
          <a:p>
            <a:r>
              <a:t>vec2의 original class가 Auto가 아니라 Bicycle이었기 때문입니다. </a:t>
            </a:r>
          </a:p>
          <a:p>
            <a:r>
              <a:t>이와 같이 ClassCastException은</a:t>
            </a:r>
          </a:p>
          <a:p>
            <a:r>
              <a:t>hierarchy 관계로 보았을 때 assign할 수 없는 object들을</a:t>
            </a:r>
          </a:p>
          <a:p>
            <a:r>
              <a:t>assign하려 할 때에 발생하게 됩니다. 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Shape 145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46" name="Shape 146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페이지 15</a:t>
            </a:r>
          </a:p>
          <a:p>
            <a:endParaRPr/>
          </a:p>
          <a:p>
            <a:r>
              <a:t>이 box안의 message는 ClassCastException이 발생한 당시에</a:t>
            </a:r>
          </a:p>
          <a:p>
            <a:r>
              <a:t>프린트되는 메시지를 보여주고 있습니다. 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텍스트"/>
          <p:cNvSpPr txBox="1">
            <a:spLocks noGrp="1"/>
          </p:cNvSpPr>
          <p:nvPr>
            <p:ph type="title"/>
          </p:nvPr>
        </p:nvSpPr>
        <p:spPr>
          <a:xfrm>
            <a:off x="914400" y="2130425"/>
            <a:ext cx="10363200" cy="1470026"/>
          </a:xfrm>
          <a:prstGeom prst="rect">
            <a:avLst/>
          </a:prstGeom>
        </p:spPr>
        <p:txBody>
          <a:bodyPr/>
          <a:lstStyle>
            <a:lvl1pPr algn="ctr">
              <a:defRPr sz="4500">
                <a:solidFill>
                  <a:srgbClr val="000000"/>
                </a:solidFill>
              </a:defRPr>
            </a:lvl1pPr>
          </a:lstStyle>
          <a:p>
            <a:r>
              <a:t>제목 텍스트</a:t>
            </a:r>
          </a:p>
        </p:txBody>
      </p:sp>
      <p:sp>
        <p:nvSpPr>
          <p:cNvPr id="12" name="본문 첫 번째 줄…"/>
          <p:cNvSpPr txBox="1">
            <a:spLocks noGrp="1"/>
          </p:cNvSpPr>
          <p:nvPr>
            <p:ph type="body" sz="quarter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SzTx/>
              <a:buFontTx/>
              <a:buNone/>
              <a:defRPr sz="2800">
                <a:solidFill>
                  <a:srgbClr val="888888"/>
                </a:solidFill>
              </a:defRPr>
            </a:lvl1pPr>
            <a:lvl2pPr marL="0" indent="0" algn="ctr">
              <a:spcBef>
                <a:spcPts val="600"/>
              </a:spcBef>
              <a:buSzTx/>
              <a:buFontTx/>
              <a:buNone/>
              <a:defRPr sz="2800">
                <a:solidFill>
                  <a:srgbClr val="888888"/>
                </a:solidFill>
              </a:defRPr>
            </a:lvl2pPr>
            <a:lvl3pPr marL="0" indent="0" algn="ctr">
              <a:spcBef>
                <a:spcPts val="600"/>
              </a:spcBef>
              <a:buSzTx/>
              <a:buFontTx/>
              <a:buNone/>
              <a:defRPr sz="2800">
                <a:solidFill>
                  <a:srgbClr val="888888"/>
                </a:solidFill>
              </a:defRPr>
            </a:lvl3pPr>
            <a:lvl4pPr marL="0" indent="0" algn="ctr">
              <a:spcBef>
                <a:spcPts val="600"/>
              </a:spcBef>
              <a:buSzTx/>
              <a:buFontTx/>
              <a:buNone/>
              <a:defRPr sz="2800">
                <a:solidFill>
                  <a:srgbClr val="888888"/>
                </a:solidFill>
              </a:defRPr>
            </a:lvl4pPr>
            <a:lvl5pPr marL="0" indent="0" algn="ctr">
              <a:spcBef>
                <a:spcPts val="600"/>
              </a:spcBef>
              <a:buSzTx/>
              <a:buFontTx/>
              <a:buNone/>
              <a:defRPr sz="2800">
                <a:solidFill>
                  <a:srgbClr val="888888"/>
                </a:solidFill>
              </a:defRPr>
            </a:lvl5pPr>
          </a:lstStyle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13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제목 텍스트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제목 텍스트</a:t>
            </a:r>
          </a:p>
        </p:txBody>
      </p:sp>
      <p:sp>
        <p:nvSpPr>
          <p:cNvPr id="21" name="본문 첫 번째 줄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22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텍스트"/>
          <p:cNvSpPr txBox="1">
            <a:spLocks noGrp="1"/>
          </p:cNvSpPr>
          <p:nvPr>
            <p:ph type="title"/>
          </p:nvPr>
        </p:nvSpPr>
        <p:spPr>
          <a:xfrm>
            <a:off x="551383" y="260647"/>
            <a:ext cx="11043248" cy="7200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 anchor="ctr">
            <a:normAutofit/>
          </a:bodyPr>
          <a:lstStyle/>
          <a:p>
            <a:r>
              <a:t>제목 텍스트</a:t>
            </a:r>
          </a:p>
        </p:txBody>
      </p:sp>
      <p:sp>
        <p:nvSpPr>
          <p:cNvPr id="3" name="본문 첫 번째 줄…"/>
          <p:cNvSpPr txBox="1">
            <a:spLocks noGrp="1"/>
          </p:cNvSpPr>
          <p:nvPr>
            <p:ph type="body" idx="1"/>
          </p:nvPr>
        </p:nvSpPr>
        <p:spPr>
          <a:xfrm>
            <a:off x="551383" y="1124742"/>
            <a:ext cx="11043248" cy="54006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normAutofit/>
          </a:bodyPr>
          <a:lstStyle/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4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11866332" y="6443875"/>
            <a:ext cx="256539" cy="240029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000">
                <a:solidFill>
                  <a:srgbClr val="888888"/>
                </a:solidFill>
                <a:latin typeface="나눔스퀘어OTF Regular"/>
                <a:ea typeface="나눔스퀘어OTF Regular"/>
                <a:cs typeface="나눔스퀘어OTF Regular"/>
                <a:sym typeface="나눔스퀘어OTF Regular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ransition spd="med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0" baseline="0">
          <a:solidFill>
            <a:srgbClr val="484848"/>
          </a:solidFill>
          <a:uFillTx/>
          <a:latin typeface="Tahoma"/>
          <a:ea typeface="Tahoma"/>
          <a:cs typeface="Tahoma"/>
          <a:sym typeface="Tahoma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0" baseline="0">
          <a:solidFill>
            <a:srgbClr val="484848"/>
          </a:solidFill>
          <a:uFillTx/>
          <a:latin typeface="Tahoma"/>
          <a:ea typeface="Tahoma"/>
          <a:cs typeface="Tahoma"/>
          <a:sym typeface="Tahoma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0" baseline="0">
          <a:solidFill>
            <a:srgbClr val="484848"/>
          </a:solidFill>
          <a:uFillTx/>
          <a:latin typeface="Tahoma"/>
          <a:ea typeface="Tahoma"/>
          <a:cs typeface="Tahoma"/>
          <a:sym typeface="Tahoma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0" baseline="0">
          <a:solidFill>
            <a:srgbClr val="484848"/>
          </a:solidFill>
          <a:uFillTx/>
          <a:latin typeface="Tahoma"/>
          <a:ea typeface="Tahoma"/>
          <a:cs typeface="Tahoma"/>
          <a:sym typeface="Tahoma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0" baseline="0">
          <a:solidFill>
            <a:srgbClr val="484848"/>
          </a:solidFill>
          <a:uFillTx/>
          <a:latin typeface="Tahoma"/>
          <a:ea typeface="Tahoma"/>
          <a:cs typeface="Tahoma"/>
          <a:sym typeface="Tahoma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0" baseline="0">
          <a:solidFill>
            <a:srgbClr val="484848"/>
          </a:solidFill>
          <a:uFillTx/>
          <a:latin typeface="Tahoma"/>
          <a:ea typeface="Tahoma"/>
          <a:cs typeface="Tahoma"/>
          <a:sym typeface="Tahoma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0" baseline="0">
          <a:solidFill>
            <a:srgbClr val="484848"/>
          </a:solidFill>
          <a:uFillTx/>
          <a:latin typeface="Tahoma"/>
          <a:ea typeface="Tahoma"/>
          <a:cs typeface="Tahoma"/>
          <a:sym typeface="Tahoma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0" baseline="0">
          <a:solidFill>
            <a:srgbClr val="484848"/>
          </a:solidFill>
          <a:uFillTx/>
          <a:latin typeface="Tahoma"/>
          <a:ea typeface="Tahoma"/>
          <a:cs typeface="Tahoma"/>
          <a:sym typeface="Tahoma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0" baseline="0">
          <a:solidFill>
            <a:srgbClr val="484848"/>
          </a:solidFill>
          <a:uFillTx/>
          <a:latin typeface="Tahoma"/>
          <a:ea typeface="Tahoma"/>
          <a:cs typeface="Tahoma"/>
          <a:sym typeface="Tahoma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•"/>
        <a:tabLst/>
        <a:defRPr sz="2400" b="0" i="0" u="none" strike="noStrike" cap="none" spc="0" baseline="0">
          <a:solidFill>
            <a:srgbClr val="464646"/>
          </a:solidFill>
          <a:uFillTx/>
          <a:latin typeface="Tahoma"/>
          <a:ea typeface="Tahoma"/>
          <a:cs typeface="Tahoma"/>
          <a:sym typeface="Tahoma"/>
        </a:defRPr>
      </a:lvl1pPr>
      <a:lvl2pPr marL="815008" marR="0" indent="-357808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◦"/>
        <a:tabLst/>
        <a:defRPr sz="2400" b="0" i="0" u="none" strike="noStrike" cap="none" spc="0" baseline="0">
          <a:solidFill>
            <a:srgbClr val="464646"/>
          </a:solidFill>
          <a:uFillTx/>
          <a:latin typeface="Tahoma"/>
          <a:ea typeface="Tahoma"/>
          <a:cs typeface="Tahoma"/>
          <a:sym typeface="Tahoma"/>
        </a:defRPr>
      </a:lvl2pPr>
      <a:lvl3pPr marL="1246909" marR="0" indent="-332509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▪"/>
        <a:tabLst/>
        <a:defRPr sz="2400" b="0" i="0" u="none" strike="noStrike" cap="none" spc="0" baseline="0">
          <a:solidFill>
            <a:srgbClr val="464646"/>
          </a:solidFill>
          <a:uFillTx/>
          <a:latin typeface="Tahoma"/>
          <a:ea typeface="Tahoma"/>
          <a:cs typeface="Tahoma"/>
          <a:sym typeface="Tahoma"/>
        </a:defRPr>
      </a:lvl3pPr>
      <a:lvl4pPr marL="1737360" marR="0" indent="-36576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–"/>
        <a:tabLst/>
        <a:defRPr sz="2400" b="0" i="0" u="none" strike="noStrike" cap="none" spc="0" baseline="0">
          <a:solidFill>
            <a:srgbClr val="464646"/>
          </a:solidFill>
          <a:uFillTx/>
          <a:latin typeface="Tahoma"/>
          <a:ea typeface="Tahoma"/>
          <a:cs typeface="Tahoma"/>
          <a:sym typeface="Tahoma"/>
        </a:defRPr>
      </a:lvl4pPr>
      <a:lvl5pPr marL="2194560" marR="0" indent="-36576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»"/>
        <a:tabLst/>
        <a:defRPr sz="2400" b="0" i="0" u="none" strike="noStrike" cap="none" spc="0" baseline="0">
          <a:solidFill>
            <a:srgbClr val="464646"/>
          </a:solidFill>
          <a:uFillTx/>
          <a:latin typeface="Tahoma"/>
          <a:ea typeface="Tahoma"/>
          <a:cs typeface="Tahoma"/>
          <a:sym typeface="Tahoma"/>
        </a:defRPr>
      </a:lvl5pPr>
      <a:lvl6pPr marL="2560320" marR="0" indent="-27432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•"/>
        <a:tabLst/>
        <a:defRPr sz="2400" b="0" i="0" u="none" strike="noStrike" cap="none" spc="0" baseline="0">
          <a:solidFill>
            <a:srgbClr val="464646"/>
          </a:solidFill>
          <a:uFillTx/>
          <a:latin typeface="Tahoma"/>
          <a:ea typeface="Tahoma"/>
          <a:cs typeface="Tahoma"/>
          <a:sym typeface="Tahoma"/>
        </a:defRPr>
      </a:lvl6pPr>
      <a:lvl7pPr marL="3017520" marR="0" indent="-27432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•"/>
        <a:tabLst/>
        <a:defRPr sz="2400" b="0" i="0" u="none" strike="noStrike" cap="none" spc="0" baseline="0">
          <a:solidFill>
            <a:srgbClr val="464646"/>
          </a:solidFill>
          <a:uFillTx/>
          <a:latin typeface="Tahoma"/>
          <a:ea typeface="Tahoma"/>
          <a:cs typeface="Tahoma"/>
          <a:sym typeface="Tahoma"/>
        </a:defRPr>
      </a:lvl7pPr>
      <a:lvl8pPr marL="3474720" marR="0" indent="-27432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•"/>
        <a:tabLst/>
        <a:defRPr sz="2400" b="0" i="0" u="none" strike="noStrike" cap="none" spc="0" baseline="0">
          <a:solidFill>
            <a:srgbClr val="464646"/>
          </a:solidFill>
          <a:uFillTx/>
          <a:latin typeface="Tahoma"/>
          <a:ea typeface="Tahoma"/>
          <a:cs typeface="Tahoma"/>
          <a:sym typeface="Tahoma"/>
        </a:defRPr>
      </a:lvl8pPr>
      <a:lvl9pPr marL="3931920" marR="0" indent="-27432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•"/>
        <a:tabLst/>
        <a:defRPr sz="2400" b="0" i="0" u="none" strike="noStrike" cap="none" spc="0" baseline="0">
          <a:solidFill>
            <a:srgbClr val="464646"/>
          </a:solidFill>
          <a:uFillTx/>
          <a:latin typeface="Tahoma"/>
          <a:ea typeface="Tahoma"/>
          <a:cs typeface="Tahoma"/>
          <a:sym typeface="Tahoma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나눔스퀘어OTF Regular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나눔스퀘어OTF Regular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나눔스퀘어OTF Regular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나눔스퀘어OTF Regular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나눔스퀘어OTF Regular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나눔스퀘어OTF Regular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나눔스퀘어OTF Regular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나눔스퀘어OTF Regular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나눔스퀘어OTF Regular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6"/>
          <p:cNvSpPr txBox="1">
            <a:spLocks noGrp="1"/>
          </p:cNvSpPr>
          <p:nvPr>
            <p:ph type="ctrTitle"/>
          </p:nvPr>
        </p:nvSpPr>
        <p:spPr>
          <a:xfrm>
            <a:off x="696888" y="1958975"/>
            <a:ext cx="10798224" cy="1470025"/>
          </a:xfrm>
          <a:prstGeom prst="rect">
            <a:avLst/>
          </a:prstGeom>
        </p:spPr>
        <p:txBody>
          <a:bodyPr/>
          <a:lstStyle/>
          <a:p>
            <a:r>
              <a:t>08_1 Exception Class</a:t>
            </a:r>
          </a:p>
        </p:txBody>
      </p:sp>
      <p:sp>
        <p:nvSpPr>
          <p:cNvPr id="32" name="Subtitle 3"/>
          <p:cNvSpPr txBox="1">
            <a:spLocks noGrp="1"/>
          </p:cNvSpPr>
          <p:nvPr>
            <p:ph type="subTitle" sz="quarter" idx="1"/>
          </p:nvPr>
        </p:nvSpPr>
        <p:spPr>
          <a:xfrm>
            <a:off x="2895600" y="3573016"/>
            <a:ext cx="6400800" cy="560574"/>
          </a:xfrm>
          <a:prstGeom prst="rect">
            <a:avLst/>
          </a:prstGeom>
        </p:spPr>
        <p:txBody>
          <a:bodyPr/>
          <a:lstStyle/>
          <a:p>
            <a:r>
              <a:t>Object-Oriented Programming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제목 1"/>
          <p:cNvSpPr txBox="1">
            <a:spLocks noGrp="1"/>
          </p:cNvSpPr>
          <p:nvPr>
            <p:ph type="title"/>
          </p:nvPr>
        </p:nvSpPr>
        <p:spPr>
          <a:xfrm>
            <a:off x="551383" y="260647"/>
            <a:ext cx="11043248" cy="720082"/>
          </a:xfrm>
          <a:prstGeom prst="rect">
            <a:avLst/>
          </a:prstGeom>
        </p:spPr>
        <p:txBody>
          <a:bodyPr/>
          <a:lstStyle/>
          <a:p>
            <a:r>
              <a:t>Errors and Exceptions</a:t>
            </a:r>
          </a:p>
        </p:txBody>
      </p:sp>
      <p:sp>
        <p:nvSpPr>
          <p:cNvPr id="37" name="텍스트 개체 틀 2"/>
          <p:cNvSpPr txBox="1">
            <a:spLocks noGrp="1"/>
          </p:cNvSpPr>
          <p:nvPr>
            <p:ph type="body" idx="1"/>
          </p:nvPr>
        </p:nvSpPr>
        <p:spPr>
          <a:xfrm>
            <a:off x="551383" y="1124741"/>
            <a:ext cx="11043248" cy="5400604"/>
          </a:xfrm>
          <a:prstGeom prst="rect">
            <a:avLst/>
          </a:prstGeom>
        </p:spPr>
        <p:txBody>
          <a:bodyPr/>
          <a:lstStyle/>
          <a:p>
            <a:r>
              <a:t>Errors: Serious errors that </a:t>
            </a:r>
            <a:r>
              <a:rPr b="1"/>
              <a:t>cannot be handled</a:t>
            </a:r>
            <a:r>
              <a:t> by program code </a:t>
            </a:r>
          </a:p>
          <a:p>
            <a:pPr marL="800100" lvl="1" indent="-342900">
              <a:defRPr sz="2300"/>
            </a:pPr>
            <a:r>
              <a:t>Compile-time Error</a:t>
            </a:r>
          </a:p>
          <a:p>
            <a:pPr marL="800100" lvl="1" indent="-342900">
              <a:defRPr sz="2300"/>
            </a:pPr>
            <a:r>
              <a:t>Run-time Error</a:t>
            </a:r>
          </a:p>
          <a:p>
            <a:pPr marL="800100" lvl="1" indent="-342900">
              <a:defRPr sz="2300"/>
            </a:pPr>
            <a:r>
              <a:t>Logic Error</a:t>
            </a:r>
          </a:p>
          <a:p>
            <a:r>
              <a:t>Exceptions</a:t>
            </a:r>
          </a:p>
          <a:p>
            <a:pPr marL="800100" lvl="1" indent="-342900">
              <a:defRPr sz="2300"/>
            </a:pPr>
            <a:r>
              <a:t>Minor errors that </a:t>
            </a:r>
            <a:r>
              <a:rPr b="1"/>
              <a:t>can be handled</a:t>
            </a:r>
            <a:r>
              <a:t> by program code</a:t>
            </a:r>
          </a:p>
          <a:p>
            <a:r>
              <a:t>Exception Handling</a:t>
            </a:r>
          </a:p>
          <a:p>
            <a:pPr marL="800100" lvl="1" indent="-342900">
              <a:defRPr sz="2300"/>
            </a:pPr>
            <a:r>
              <a:t>Preventing abnormal termination of the program </a:t>
            </a:r>
            <a:r>
              <a:rPr b="1"/>
              <a:t>by coding</a:t>
            </a:r>
          </a:p>
          <a:p>
            <a:pPr marL="800100" lvl="1" indent="-342900">
              <a:defRPr sz="2300"/>
            </a:pPr>
            <a:r>
              <a:t>Maintaining normal execution</a:t>
            </a:r>
          </a:p>
        </p:txBody>
      </p:sp>
      <p:sp>
        <p:nvSpPr>
          <p:cNvPr id="38" name="슬라이드 번호 개체 틀 3"/>
          <p:cNvSpPr txBox="1">
            <a:spLocks noGrp="1"/>
          </p:cNvSpPr>
          <p:nvPr>
            <p:ph type="sldNum" sz="quarter" idx="2"/>
          </p:nvPr>
        </p:nvSpPr>
        <p:spPr>
          <a:xfrm>
            <a:off x="11942532" y="6443875"/>
            <a:ext cx="180339" cy="24002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</a:t>
            </a:fld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3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3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3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7" fill="hold"/>
                                        <p:tgtEl>
                                          <p:spTgt spid="3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1" build="p" bldLvl="5" animBg="1" advAuto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제목 1"/>
          <p:cNvSpPr txBox="1">
            <a:spLocks noGrp="1"/>
          </p:cNvSpPr>
          <p:nvPr>
            <p:ph type="title"/>
          </p:nvPr>
        </p:nvSpPr>
        <p:spPr>
          <a:xfrm>
            <a:off x="551383" y="260647"/>
            <a:ext cx="11043248" cy="720082"/>
          </a:xfrm>
          <a:prstGeom prst="rect">
            <a:avLst/>
          </a:prstGeom>
        </p:spPr>
        <p:txBody>
          <a:bodyPr/>
          <a:lstStyle/>
          <a:p>
            <a:r>
              <a:t>Types of Exception</a:t>
            </a:r>
          </a:p>
        </p:txBody>
      </p:sp>
      <p:sp>
        <p:nvSpPr>
          <p:cNvPr id="43" name="텍스트 개체 틀 2"/>
          <p:cNvSpPr txBox="1">
            <a:spLocks noGrp="1"/>
          </p:cNvSpPr>
          <p:nvPr>
            <p:ph type="body" idx="1"/>
          </p:nvPr>
        </p:nvSpPr>
        <p:spPr>
          <a:xfrm>
            <a:off x="551383" y="1124741"/>
            <a:ext cx="11043248" cy="5400604"/>
          </a:xfrm>
          <a:prstGeom prst="rect">
            <a:avLst/>
          </a:prstGeom>
        </p:spPr>
        <p:txBody>
          <a:bodyPr/>
          <a:lstStyle/>
          <a:p>
            <a:r>
              <a:t>General Exception (= compile-time checked exception) </a:t>
            </a:r>
          </a:p>
          <a:p>
            <a:pPr lvl="1"/>
            <a:r>
              <a:t>Compiler checks for existence of appropriate exception handling code</a:t>
            </a:r>
          </a:p>
          <a:p>
            <a:pPr lvl="1"/>
            <a:r>
              <a:t>If there is no exception handling code, a compile error occurs</a:t>
            </a:r>
          </a:p>
          <a:p>
            <a:pPr lvl="1"/>
            <a:endParaRPr/>
          </a:p>
          <a:p>
            <a:r>
              <a:t>Runtime Exception (= compile-time unchecked exception) </a:t>
            </a:r>
          </a:p>
          <a:p>
            <a:pPr lvl="1"/>
            <a:r>
              <a:t>Does not check for exception handling code at compile time</a:t>
            </a:r>
          </a:p>
          <a:p>
            <a:pPr lvl="1"/>
            <a:r>
              <a:t>But, to handle the exception, exception-handling code must be written by programmer</a:t>
            </a:r>
          </a:p>
          <a:p>
            <a:pPr lvl="1"/>
            <a:r>
              <a:t>If runtime exception occurs</a:t>
            </a:r>
          </a:p>
          <a:p>
            <a:pPr lvl="2"/>
            <a:r>
              <a:t>If the program has exception-handling code, then the code is executed</a:t>
            </a:r>
          </a:p>
          <a:p>
            <a:pPr lvl="2"/>
            <a:r>
              <a:t>If no exception-handling code, the program stops immediately</a:t>
            </a:r>
          </a:p>
        </p:txBody>
      </p:sp>
      <p:sp>
        <p:nvSpPr>
          <p:cNvPr id="44" name="슬라이드 번호 개체 틀 3"/>
          <p:cNvSpPr txBox="1">
            <a:spLocks noGrp="1"/>
          </p:cNvSpPr>
          <p:nvPr>
            <p:ph type="sldNum" sz="quarter" idx="2"/>
          </p:nvPr>
        </p:nvSpPr>
        <p:spPr>
          <a:xfrm>
            <a:off x="11942532" y="6443875"/>
            <a:ext cx="180339" cy="24002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3</a:t>
            </a:fld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9" fill="hold"/>
                                        <p:tgtEl>
                                          <p:spTgt spid="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" fill="hold"/>
                                        <p:tgtEl>
                                          <p:spTgt spid="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fill="hold"/>
                                        <p:tgtEl>
                                          <p:spTgt spid="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1" build="p" bldLvl="5" animBg="1" advAuto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Exception Class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Exception Classes</a:t>
            </a:r>
          </a:p>
        </p:txBody>
      </p:sp>
      <p:sp>
        <p:nvSpPr>
          <p:cNvPr id="49" name="java.lang.Exception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342899" indent="-342899">
              <a:defRPr sz="2200"/>
            </a:pPr>
            <a:r>
              <a:rPr dirty="0" err="1"/>
              <a:t>java.lang.Exception</a:t>
            </a:r>
            <a:endParaRPr dirty="0"/>
          </a:p>
          <a:p>
            <a:pPr lvl="1">
              <a:defRPr sz="2200"/>
            </a:pPr>
            <a:r>
              <a:rPr dirty="0" err="1"/>
              <a:t>java.lang.ClassNotFoundException</a:t>
            </a:r>
            <a:endParaRPr dirty="0"/>
          </a:p>
          <a:p>
            <a:pPr lvl="1">
              <a:defRPr sz="2200"/>
            </a:pPr>
            <a:r>
              <a:rPr dirty="0" err="1"/>
              <a:t>java.io.IOException</a:t>
            </a:r>
            <a:endParaRPr dirty="0"/>
          </a:p>
          <a:p>
            <a:pPr lvl="1">
              <a:defRPr sz="2200"/>
            </a:pPr>
            <a:r>
              <a:rPr dirty="0"/>
              <a:t>….</a:t>
            </a:r>
          </a:p>
          <a:p>
            <a:pPr lvl="1">
              <a:defRPr sz="2200"/>
            </a:pPr>
            <a:r>
              <a:rPr dirty="0" err="1"/>
              <a:t>java.lang.RuntimeException</a:t>
            </a:r>
            <a:endParaRPr dirty="0"/>
          </a:p>
          <a:p>
            <a:pPr marL="1246909" lvl="2" indent="-332509">
              <a:defRPr sz="2200"/>
            </a:pPr>
            <a:r>
              <a:rPr dirty="0" err="1"/>
              <a:t>java.lang.ArithmeticException</a:t>
            </a:r>
            <a:endParaRPr dirty="0"/>
          </a:p>
          <a:p>
            <a:pPr marL="1246909" lvl="2" indent="-332509">
              <a:defRPr sz="2200"/>
            </a:pPr>
            <a:r>
              <a:rPr dirty="0" err="1"/>
              <a:t>java.lang.ClassCastException</a:t>
            </a:r>
            <a:endParaRPr dirty="0"/>
          </a:p>
          <a:p>
            <a:pPr marL="1246909" lvl="2" indent="-332509">
              <a:defRPr sz="2200"/>
            </a:pPr>
            <a:r>
              <a:rPr dirty="0" err="1"/>
              <a:t>java.lang.NullPointerException</a:t>
            </a:r>
            <a:endParaRPr dirty="0"/>
          </a:p>
          <a:p>
            <a:pPr marL="1246909" lvl="2" indent="-332509">
              <a:defRPr sz="2200"/>
            </a:pPr>
            <a:r>
              <a:rPr dirty="0" err="1"/>
              <a:t>java.lang.IndexOutOfBoundsException</a:t>
            </a:r>
            <a:endParaRPr dirty="0"/>
          </a:p>
          <a:p>
            <a:pPr marL="1246909" lvl="2" indent="-332509">
              <a:defRPr sz="2200"/>
            </a:pPr>
            <a:r>
              <a:rPr dirty="0"/>
              <a:t>…</a:t>
            </a:r>
          </a:p>
        </p:txBody>
      </p:sp>
      <p:sp>
        <p:nvSpPr>
          <p:cNvPr id="50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11942532" y="6443875"/>
            <a:ext cx="180339" cy="24002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4</a:t>
            </a:fld>
            <a:endParaRPr/>
          </a:p>
        </p:txBody>
      </p:sp>
      <p:sp>
        <p:nvSpPr>
          <p:cNvPr id="51" name="General Exception…"/>
          <p:cNvSpPr txBox="1"/>
          <p:nvPr/>
        </p:nvSpPr>
        <p:spPr>
          <a:xfrm>
            <a:off x="6202899" y="1397138"/>
            <a:ext cx="4150428" cy="764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8" tIns="45718" rIns="45718" bIns="45718" anchor="ctr">
            <a:spAutoFit/>
          </a:bodyPr>
          <a:lstStyle/>
          <a:p>
            <a:pPr lvl="1" indent="228600">
              <a:spcBef>
                <a:spcPts val="500"/>
              </a:spcBef>
              <a:defRPr sz="2000">
                <a:solidFill>
                  <a:srgbClr val="464646"/>
                </a:solidFill>
                <a:latin typeface="Tahoma"/>
                <a:ea typeface="Tahoma"/>
                <a:cs typeface="Tahoma"/>
                <a:sym typeface="Tahoma"/>
              </a:defRPr>
            </a:pPr>
            <a:r>
              <a:rPr dirty="0"/>
              <a:t>General Exception</a:t>
            </a:r>
          </a:p>
          <a:p>
            <a:pPr lvl="1" indent="228600">
              <a:spcBef>
                <a:spcPts val="500"/>
              </a:spcBef>
              <a:defRPr sz="2000">
                <a:solidFill>
                  <a:srgbClr val="464646"/>
                </a:solidFill>
                <a:latin typeface="Tahoma"/>
                <a:ea typeface="Tahoma"/>
                <a:cs typeface="Tahoma"/>
                <a:sym typeface="Tahoma"/>
              </a:defRPr>
            </a:pPr>
            <a:r>
              <a:rPr dirty="0"/>
              <a:t>(Compile-time checked Exception)</a:t>
            </a:r>
          </a:p>
        </p:txBody>
      </p:sp>
      <p:sp>
        <p:nvSpPr>
          <p:cNvPr id="52" name="Runtime Exception…"/>
          <p:cNvSpPr txBox="1"/>
          <p:nvPr/>
        </p:nvSpPr>
        <p:spPr>
          <a:xfrm>
            <a:off x="7294498" y="3678677"/>
            <a:ext cx="4451198" cy="764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 lvl="1" indent="228600">
              <a:spcBef>
                <a:spcPts val="500"/>
              </a:spcBef>
              <a:defRPr sz="2000">
                <a:solidFill>
                  <a:srgbClr val="464646"/>
                </a:solidFill>
                <a:latin typeface="Tahoma"/>
                <a:ea typeface="Tahoma"/>
                <a:cs typeface="Tahoma"/>
                <a:sym typeface="Tahoma"/>
              </a:defRPr>
            </a:pPr>
            <a:r>
              <a:t>Runtime Exception</a:t>
            </a:r>
          </a:p>
          <a:p>
            <a:pPr lvl="1" indent="228600">
              <a:spcBef>
                <a:spcPts val="500"/>
              </a:spcBef>
              <a:defRPr sz="2000">
                <a:solidFill>
                  <a:srgbClr val="464646"/>
                </a:solidFill>
                <a:latin typeface="Tahoma"/>
                <a:ea typeface="Tahoma"/>
                <a:cs typeface="Tahoma"/>
                <a:sym typeface="Tahoma"/>
              </a:defRPr>
            </a:pPr>
            <a:r>
              <a:t>(Compile-time unchecked Exception)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3" name="방정식"/>
              <p:cNvSpPr txBox="1"/>
              <p:nvPr/>
            </p:nvSpPr>
            <p:spPr>
              <a:xfrm>
                <a:off x="5820771" y="1055432"/>
                <a:ext cx="550458" cy="1415772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square" lIns="0" tIns="0" rIns="0" bIns="0">
                <a:spAutoFit/>
              </a:bodyPr>
              <a:lstStyle/>
              <a:p>
                <a:pPr latinLnBrk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9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sz="9200" dirty="0"/>
              </a:p>
            </p:txBody>
          </p:sp>
        </mc:Choice>
        <mc:Fallback>
          <p:sp>
            <p:nvSpPr>
              <p:cNvPr id="53" name="방정식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0771" y="1055432"/>
                <a:ext cx="550458" cy="1415772"/>
              </a:xfrm>
              <a:prstGeom prst="rect">
                <a:avLst/>
              </a:prstGeom>
              <a:blipFill>
                <a:blip r:embed="rId3"/>
                <a:stretch>
                  <a:fillRect l="-88636" t="-1786" r="-88636" b="-33929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6" name="그룹화"/>
          <p:cNvGrpSpPr/>
          <p:nvPr/>
        </p:nvGrpSpPr>
        <p:grpSpPr>
          <a:xfrm>
            <a:off x="6302728" y="2136378"/>
            <a:ext cx="800706" cy="2361896"/>
            <a:chOff x="0" y="0"/>
            <a:chExt cx="800704" cy="236189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4" name="방정식"/>
                <p:cNvSpPr txBox="1"/>
                <p:nvPr/>
              </p:nvSpPr>
              <p:spPr>
                <a:xfrm>
                  <a:off x="114904" y="0"/>
                  <a:ext cx="685801" cy="236189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latinLnBrk="1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sz="2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oMath>
                    </m:oMathPara>
                  </a14:m>
                  <a:endParaRPr sz="21600"/>
                </a:p>
              </p:txBody>
            </p:sp>
          </mc:Choice>
          <mc:Fallback>
            <p:sp>
              <p:nvSpPr>
                <p:cNvPr id="54" name="방정식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904" y="0"/>
                  <a:ext cx="685801" cy="2361896"/>
                </a:xfrm>
                <a:prstGeom prst="rect">
                  <a:avLst/>
                </a:prstGeom>
                <a:blipFill>
                  <a:blip r:embed="rId4"/>
                  <a:stretch>
                    <a:fillRect l="-183636" t="-1604" r="-236364" b="-87166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5" name="방정식"/>
                <p:cNvSpPr txBox="1"/>
                <p:nvPr/>
              </p:nvSpPr>
              <p:spPr>
                <a:xfrm>
                  <a:off x="0" y="0"/>
                  <a:ext cx="685800" cy="236189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latinLnBrk="1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sz="21600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oMath>
                    </m:oMathPara>
                  </a14:m>
                  <a:endParaRPr sz="21600" dirty="0">
                    <a:solidFill>
                      <a:srgbClr val="FFFFFF"/>
                    </a:solidFill>
                  </a:endParaRPr>
                </a:p>
              </p:txBody>
            </p:sp>
          </mc:Choice>
          <mc:Fallback>
            <p:sp>
              <p:nvSpPr>
                <p:cNvPr id="55" name="방정식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0"/>
                  <a:ext cx="685800" cy="2361896"/>
                </a:xfrm>
                <a:prstGeom prst="rect">
                  <a:avLst/>
                </a:prstGeom>
                <a:blipFill>
                  <a:blip r:embed="rId5"/>
                  <a:stretch>
                    <a:fillRect l="-183636" t="-1604" r="-236364" b="-87166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5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3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3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9" fill="hold"/>
                                        <p:tgtEl>
                                          <p:spTgt spid="4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4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5" fill="hold"/>
                                        <p:tgtEl>
                                          <p:spTgt spid="4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8" fill="hold"/>
                                        <p:tgtEl>
                                          <p:spTgt spid="4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1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5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4" fill="hold"/>
                                        <p:tgtEl>
                                          <p:spTgt spid="5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5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6" fill="hold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5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8" fill="hold"/>
                                        <p:tgtEl>
                                          <p:spTgt spid="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1" build="p" bldLvl="5" animBg="1" advAuto="0"/>
      <p:bldP spid="51" grpId="3" build="p" animBg="1" advAuto="0"/>
      <p:bldP spid="52" grpId="5" build="p" animBg="1" advAuto="0"/>
      <p:bldP spid="53" grpId="2" animBg="1" advAuto="0"/>
      <p:bldP spid="56" grpId="4" animBg="1" advAuto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eneral Exception: ClassNotFoundException (1/3)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859536">
              <a:defRPr sz="3384"/>
            </a:lvl1pPr>
          </a:lstStyle>
          <a:p>
            <a:r>
              <a:t>General Exception: ClassNotFoundException (1/3)</a:t>
            </a:r>
          </a:p>
        </p:txBody>
      </p:sp>
      <p:sp>
        <p:nvSpPr>
          <p:cNvPr id="61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11942532" y="6443875"/>
            <a:ext cx="180339" cy="24002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5</a:t>
            </a:fld>
            <a:endParaRPr/>
          </a:p>
        </p:txBody>
      </p:sp>
      <p:sp>
        <p:nvSpPr>
          <p:cNvPr id="62" name="class TempClass0 { }…"/>
          <p:cNvSpPr txBox="1"/>
          <p:nvPr/>
        </p:nvSpPr>
        <p:spPr>
          <a:xfrm>
            <a:off x="787715" y="1148004"/>
            <a:ext cx="10616570" cy="2031364"/>
          </a:xfrm>
          <a:prstGeom prst="rect">
            <a:avLst/>
          </a:prstGeom>
          <a:ln>
            <a:solidFill>
              <a:srgbClr val="A7A7A7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 defTabSz="502284">
              <a:tabLst>
                <a:tab pos="495300" algn="l"/>
              </a:tabLst>
              <a:defRPr sz="1600">
                <a:solidFill>
                  <a:srgbClr val="000000">
                    <a:alpha val="85000"/>
                  </a:srgb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b="1">
                <a:solidFill>
                  <a:srgbClr val="AD3DA4"/>
                </a:solidFill>
              </a:rPr>
              <a:t>class</a:t>
            </a:r>
            <a:r>
              <a:t> TempClass0 { }</a:t>
            </a:r>
          </a:p>
          <a:p>
            <a:pPr defTabSz="502284">
              <a:tabLst>
                <a:tab pos="495300" algn="l"/>
              </a:tabLst>
              <a:defRPr sz="1600">
                <a:solidFill>
                  <a:srgbClr val="000000">
                    <a:alpha val="85000"/>
                  </a:srgb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endParaRPr/>
          </a:p>
          <a:p>
            <a:pPr defTabSz="502284">
              <a:tabLst>
                <a:tab pos="495300" algn="l"/>
              </a:tabLst>
              <a:defRPr sz="1600">
                <a:solidFill>
                  <a:srgbClr val="000000">
                    <a:alpha val="85000"/>
                  </a:srgb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b="1">
                <a:solidFill>
                  <a:srgbClr val="AD3DA4"/>
                </a:solidFill>
              </a:rPr>
              <a:t>public</a:t>
            </a:r>
            <a:r>
              <a:t> </a:t>
            </a:r>
            <a:r>
              <a:rPr b="1">
                <a:solidFill>
                  <a:srgbClr val="AD3DA4"/>
                </a:solidFill>
              </a:rPr>
              <a:t>class</a:t>
            </a:r>
            <a:r>
              <a:t> ClassClass0 {</a:t>
            </a:r>
          </a:p>
          <a:p>
            <a:pPr defTabSz="502284">
              <a:tabLst>
                <a:tab pos="495300" algn="l"/>
              </a:tabLst>
              <a:defRPr sz="1600">
                <a:solidFill>
                  <a:srgbClr val="000000">
                    <a:alpha val="85000"/>
                  </a:srgb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</a:t>
            </a:r>
            <a:r>
              <a:rPr b="1">
                <a:solidFill>
                  <a:srgbClr val="AD3DA4"/>
                </a:solidFill>
              </a:rPr>
              <a:t>public</a:t>
            </a:r>
            <a:r>
              <a:t> </a:t>
            </a:r>
            <a:r>
              <a:rPr b="1">
                <a:solidFill>
                  <a:srgbClr val="AD3DA4"/>
                </a:solidFill>
              </a:rPr>
              <a:t>static</a:t>
            </a:r>
            <a:r>
              <a:t> </a:t>
            </a:r>
            <a:r>
              <a:rPr b="1">
                <a:solidFill>
                  <a:srgbClr val="AD3DA4"/>
                </a:solidFill>
              </a:rPr>
              <a:t>void</a:t>
            </a:r>
            <a:r>
              <a:t> main(String[] args) {</a:t>
            </a:r>
          </a:p>
          <a:p>
            <a:pPr defTabSz="502284">
              <a:tabLst>
                <a:tab pos="495300" algn="l"/>
              </a:tabLst>
              <a:defRPr sz="1600">
                <a:solidFill>
                  <a:srgbClr val="000000">
                    <a:alpha val="85000"/>
                  </a:srgb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    TempClass0 t0 = </a:t>
            </a:r>
            <a:r>
              <a:rPr b="1">
                <a:solidFill>
                  <a:srgbClr val="AD3DA4"/>
                </a:solidFill>
              </a:rPr>
              <a:t>new</a:t>
            </a:r>
            <a:r>
              <a:t> TempClass0();</a:t>
            </a:r>
          </a:p>
          <a:p>
            <a:pPr defTabSz="502284">
              <a:tabLst>
                <a:tab pos="495300" algn="l"/>
              </a:tabLst>
              <a:defRPr sz="1600">
                <a:solidFill>
                  <a:srgbClr val="000000">
                    <a:alpha val="85000"/>
                  </a:srgb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    System.out.println(</a:t>
            </a:r>
            <a:r>
              <a:rPr>
                <a:solidFill>
                  <a:srgbClr val="D12F1B"/>
                </a:solidFill>
              </a:rPr>
              <a:t>"t0.getClass() returns: "</a:t>
            </a:r>
            <a:r>
              <a:t> + t0.getClass());</a:t>
            </a:r>
          </a:p>
          <a:p>
            <a:pPr defTabSz="502284">
              <a:tabLst>
                <a:tab pos="495300" algn="l"/>
              </a:tabLst>
              <a:defRPr sz="1600">
                <a:solidFill>
                  <a:srgbClr val="000000">
                    <a:alpha val="85000"/>
                  </a:srgb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}</a:t>
            </a:r>
          </a:p>
          <a:p>
            <a:pPr defTabSz="502284">
              <a:tabLst>
                <a:tab pos="495300" algn="l"/>
              </a:tabLst>
              <a:defRPr sz="1600">
                <a:solidFill>
                  <a:srgbClr val="000000">
                    <a:alpha val="85000"/>
                  </a:srgb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}</a:t>
            </a:r>
          </a:p>
        </p:txBody>
      </p:sp>
      <p:sp>
        <p:nvSpPr>
          <p:cNvPr id="63" name="OUTPUT: t0.getClass() returns: class TempClass0"/>
          <p:cNvSpPr txBox="1"/>
          <p:nvPr/>
        </p:nvSpPr>
        <p:spPr>
          <a:xfrm>
            <a:off x="836715" y="3435012"/>
            <a:ext cx="10626094" cy="342264"/>
          </a:xfrm>
          <a:prstGeom prst="rect">
            <a:avLst/>
          </a:prstGeom>
          <a:ln>
            <a:solidFill>
              <a:srgbClr val="A7A7A7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 defTabSz="502284">
              <a:tabLst>
                <a:tab pos="495300" algn="l"/>
              </a:tabLst>
              <a:defRPr sz="1600">
                <a:solidFill>
                  <a:srgbClr val="000000">
                    <a:alpha val="85000"/>
                  </a:srgb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OUTPUT: t0.getClass() returns: </a:t>
            </a:r>
            <a:r>
              <a:rPr b="1">
                <a:solidFill>
                  <a:srgbClr val="AD3DA4"/>
                </a:solidFill>
              </a:rPr>
              <a:t>class</a:t>
            </a:r>
            <a:r>
              <a:t> TempClass0</a:t>
            </a:r>
          </a:p>
        </p:txBody>
      </p:sp>
      <p:sp>
        <p:nvSpPr>
          <p:cNvPr id="64" name="모서리가 둥근 직사각형"/>
          <p:cNvSpPr/>
          <p:nvPr/>
        </p:nvSpPr>
        <p:spPr>
          <a:xfrm>
            <a:off x="4600586" y="3435012"/>
            <a:ext cx="2159576" cy="342264"/>
          </a:xfrm>
          <a:prstGeom prst="roundRect">
            <a:avLst>
              <a:gd name="adj" fmla="val 50000"/>
            </a:avLst>
          </a:prstGeom>
          <a:ln w="25400">
            <a:solidFill>
              <a:srgbClr val="FF2600"/>
            </a:solidFill>
          </a:ln>
        </p:spPr>
        <p:txBody>
          <a:bodyPr lIns="45718" tIns="45718" rIns="45718" bIns="45718" anchor="ctr"/>
          <a:lstStyle/>
          <a:p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6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9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1" build="p" bldLvl="5" animBg="1" advAuto="0"/>
      <p:bldP spid="63" grpId="2" animBg="1" advAuto="0"/>
      <p:bldP spid="64" grpId="3" animBg="1" advAuto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eneral Exception: ClassNotFoundException (2/3)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859536">
              <a:defRPr sz="3384"/>
            </a:lvl1pPr>
          </a:lstStyle>
          <a:p>
            <a:r>
              <a:t>General Exception: ClassNotFoundException (2/3)</a:t>
            </a:r>
          </a:p>
        </p:txBody>
      </p:sp>
      <p:sp>
        <p:nvSpPr>
          <p:cNvPr id="69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11942532" y="6443875"/>
            <a:ext cx="180339" cy="24002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6</a:t>
            </a:fld>
            <a:endParaRPr/>
          </a:p>
        </p:txBody>
      </p:sp>
      <p:sp>
        <p:nvSpPr>
          <p:cNvPr id="70" name="class TempClass0 { }…"/>
          <p:cNvSpPr txBox="1"/>
          <p:nvPr/>
        </p:nvSpPr>
        <p:spPr>
          <a:xfrm>
            <a:off x="559959" y="1179420"/>
            <a:ext cx="11026095" cy="2996564"/>
          </a:xfrm>
          <a:prstGeom prst="rect">
            <a:avLst/>
          </a:prstGeom>
          <a:ln>
            <a:solidFill>
              <a:srgbClr val="A7A7A7"/>
            </a:solidFill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 defTabSz="502284">
              <a:tabLst>
                <a:tab pos="495300" algn="l"/>
              </a:tabLst>
              <a:defRPr sz="1600">
                <a:solidFill>
                  <a:srgbClr val="000000">
                    <a:alpha val="85000"/>
                  </a:srgb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b="1">
                <a:solidFill>
                  <a:srgbClr val="AD3DA4"/>
                </a:solidFill>
              </a:rPr>
              <a:t>class</a:t>
            </a:r>
            <a:r>
              <a:t> TempClass0 { }</a:t>
            </a:r>
          </a:p>
          <a:p>
            <a:pPr defTabSz="502284">
              <a:tabLst>
                <a:tab pos="495300" algn="l"/>
              </a:tabLst>
              <a:defRPr sz="1600">
                <a:solidFill>
                  <a:srgbClr val="000000">
                    <a:alpha val="85000"/>
                  </a:srgb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endParaRPr/>
          </a:p>
          <a:p>
            <a:pPr defTabSz="502284">
              <a:tabLst>
                <a:tab pos="495300" algn="l"/>
              </a:tabLst>
              <a:defRPr sz="1600">
                <a:solidFill>
                  <a:srgbClr val="000000">
                    <a:alpha val="85000"/>
                  </a:srgb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b="1">
                <a:solidFill>
                  <a:srgbClr val="AD3DA4"/>
                </a:solidFill>
              </a:rPr>
              <a:t>public</a:t>
            </a:r>
            <a:r>
              <a:t> </a:t>
            </a:r>
            <a:r>
              <a:rPr b="1">
                <a:solidFill>
                  <a:srgbClr val="AD3DA4"/>
                </a:solidFill>
              </a:rPr>
              <a:t>class</a:t>
            </a:r>
            <a:r>
              <a:t> ClassClass0 {</a:t>
            </a:r>
          </a:p>
          <a:p>
            <a:pPr defTabSz="502284">
              <a:tabLst>
                <a:tab pos="495300" algn="l"/>
              </a:tabLst>
              <a:defRPr sz="1600">
                <a:solidFill>
                  <a:srgbClr val="000000">
                    <a:alpha val="85000"/>
                  </a:srgb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</a:t>
            </a:r>
            <a:r>
              <a:rPr b="1">
                <a:solidFill>
                  <a:srgbClr val="AD3DA4"/>
                </a:solidFill>
              </a:rPr>
              <a:t>public</a:t>
            </a:r>
            <a:r>
              <a:t> </a:t>
            </a:r>
            <a:r>
              <a:rPr b="1">
                <a:solidFill>
                  <a:srgbClr val="AD3DA4"/>
                </a:solidFill>
              </a:rPr>
              <a:t>static</a:t>
            </a:r>
            <a:r>
              <a:t> </a:t>
            </a:r>
            <a:r>
              <a:rPr b="1">
                <a:solidFill>
                  <a:srgbClr val="AD3DA4"/>
                </a:solidFill>
              </a:rPr>
              <a:t>void</a:t>
            </a:r>
            <a:r>
              <a:t> main(String[] args) {</a:t>
            </a:r>
          </a:p>
          <a:p>
            <a:pPr defTabSz="502284">
              <a:tabLst>
                <a:tab pos="495300" algn="l"/>
              </a:tabLst>
              <a:defRPr sz="1600">
                <a:solidFill>
                  <a:srgbClr val="000000">
                    <a:alpha val="85000"/>
                  </a:srgb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    TempClass0 t0 = </a:t>
            </a:r>
            <a:r>
              <a:rPr b="1">
                <a:solidFill>
                  <a:srgbClr val="AD3DA4"/>
                </a:solidFill>
              </a:rPr>
              <a:t>new</a:t>
            </a:r>
            <a:r>
              <a:t> TempClass0();</a:t>
            </a:r>
          </a:p>
          <a:p>
            <a:pPr defTabSz="502284">
              <a:tabLst>
                <a:tab pos="495300" algn="l"/>
              </a:tabLst>
              <a:defRPr sz="1600">
                <a:solidFill>
                  <a:srgbClr val="000000">
                    <a:alpha val="85000"/>
                  </a:srgb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    System.out.println(</a:t>
            </a:r>
            <a:r>
              <a:rPr>
                <a:solidFill>
                  <a:srgbClr val="D12F1B"/>
                </a:solidFill>
              </a:rPr>
              <a:t>"t0.getClass() returns: "</a:t>
            </a:r>
            <a:r>
              <a:t> + t0.getClass());</a:t>
            </a:r>
          </a:p>
          <a:p>
            <a:pPr defTabSz="502284">
              <a:tabLst>
                <a:tab pos="495300" algn="l"/>
              </a:tabLst>
              <a:defRPr sz="1600">
                <a:solidFill>
                  <a:srgbClr val="000000">
                    <a:alpha val="85000"/>
                  </a:srgb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    Class classInfo;</a:t>
            </a:r>
          </a:p>
          <a:p>
            <a:pPr defTabSz="502284">
              <a:tabLst>
                <a:tab pos="495300" algn="l"/>
              </a:tabLst>
              <a:defRPr sz="1600">
                <a:solidFill>
                  <a:srgbClr val="000000">
                    <a:alpha val="85000"/>
                  </a:srgb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    classInfo = Class.forName(</a:t>
            </a:r>
            <a:r>
              <a:rPr>
                <a:solidFill>
                  <a:srgbClr val="D12F1B"/>
                </a:solidFill>
              </a:rPr>
              <a:t>"TempClass0"</a:t>
            </a:r>
            <a:r>
              <a:t>);</a:t>
            </a:r>
          </a:p>
          <a:p>
            <a:pPr defTabSz="502284">
              <a:tabLst>
                <a:tab pos="495300" algn="l"/>
              </a:tabLst>
              <a:defRPr sz="1600">
                <a:solidFill>
                  <a:srgbClr val="000000">
                    <a:alpha val="85000"/>
                  </a:srgb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    System.out.println(</a:t>
            </a:r>
            <a:r>
              <a:rPr>
                <a:solidFill>
                  <a:srgbClr val="D12F1B"/>
                </a:solidFill>
              </a:rPr>
              <a:t>"classInfo: "</a:t>
            </a:r>
            <a:r>
              <a:t> + classInfo);</a:t>
            </a:r>
          </a:p>
          <a:p>
            <a:pPr defTabSz="502284">
              <a:tabLst>
                <a:tab pos="495300" algn="l"/>
              </a:tabLst>
              <a:defRPr sz="1600">
                <a:solidFill>
                  <a:srgbClr val="D12F1B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000000">
                    <a:alpha val="85000"/>
                  </a:srgbClr>
                </a:solidFill>
              </a:rPr>
              <a:t>        System.out.println(</a:t>
            </a:r>
            <a:r>
              <a:t>"classInfo.getName() returns: "</a:t>
            </a:r>
            <a:r>
              <a:rPr>
                <a:solidFill>
                  <a:srgbClr val="000000">
                    <a:alpha val="85000"/>
                  </a:srgbClr>
                </a:solidFill>
              </a:rPr>
              <a:t> + classInfo.getName());</a:t>
            </a:r>
          </a:p>
          <a:p>
            <a:pPr defTabSz="502284">
              <a:tabLst>
                <a:tab pos="495300" algn="l"/>
              </a:tabLst>
              <a:defRPr sz="1600">
                <a:solidFill>
                  <a:srgbClr val="000000">
                    <a:alpha val="85000"/>
                  </a:srgb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}</a:t>
            </a:r>
          </a:p>
          <a:p>
            <a:pPr defTabSz="502284">
              <a:tabLst>
                <a:tab pos="495300" algn="l"/>
              </a:tabLst>
              <a:defRPr sz="1600">
                <a:solidFill>
                  <a:srgbClr val="000000">
                    <a:alpha val="85000"/>
                  </a:srgb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}</a:t>
            </a:r>
          </a:p>
        </p:txBody>
      </p:sp>
      <p:sp>
        <p:nvSpPr>
          <p:cNvPr id="71" name="모서리가 둥근 직사각형"/>
          <p:cNvSpPr/>
          <p:nvPr/>
        </p:nvSpPr>
        <p:spPr>
          <a:xfrm>
            <a:off x="3006291" y="2898594"/>
            <a:ext cx="3544946" cy="302259"/>
          </a:xfrm>
          <a:prstGeom prst="roundRect">
            <a:avLst>
              <a:gd name="adj" fmla="val 50000"/>
            </a:avLst>
          </a:prstGeom>
          <a:ln w="25400">
            <a:solidFill>
              <a:srgbClr val="FF2600"/>
            </a:solidFill>
          </a:ln>
        </p:spPr>
        <p:txBody>
          <a:bodyPr lIns="45718" tIns="45718" rIns="45718" bIns="45718" anchor="ctr"/>
          <a:lstStyle/>
          <a:p>
            <a:endParaRPr/>
          </a:p>
        </p:txBody>
      </p:sp>
      <p:sp>
        <p:nvSpPr>
          <p:cNvPr id="72" name="java: unreported exception java.lang.ClassNotFoundException; must be caught or declared to be thrown"/>
          <p:cNvSpPr txBox="1"/>
          <p:nvPr/>
        </p:nvSpPr>
        <p:spPr>
          <a:xfrm>
            <a:off x="572474" y="4379439"/>
            <a:ext cx="11001066" cy="583564"/>
          </a:xfrm>
          <a:prstGeom prst="rect">
            <a:avLst/>
          </a:prstGeom>
          <a:ln>
            <a:solidFill>
              <a:srgbClr val="A7A7A7"/>
            </a:solidFill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 anchor="ctr">
            <a:spAutoFit/>
          </a:bodyPr>
          <a:lstStyle>
            <a:lvl1pPr defTabSz="502284">
              <a:tabLst>
                <a:tab pos="495300" algn="l"/>
              </a:tabLst>
              <a:defRPr sz="1600">
                <a:solidFill>
                  <a:srgbClr val="9437FF"/>
                </a:solidFill>
                <a:latin typeface="Menlo Regular"/>
                <a:ea typeface="Menlo Regular"/>
                <a:cs typeface="Menlo Regular"/>
                <a:sym typeface="Menlo Regular"/>
              </a:defRPr>
            </a:lvl1pPr>
          </a:lstStyle>
          <a:p>
            <a:r>
              <a:t>java: unreported exception java.lang.ClassNotFoundException; must be caught or declared to be thrown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7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7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7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9" fill="hold"/>
                                        <p:tgtEl>
                                          <p:spTgt spid="7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7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5" fill="hold"/>
                                        <p:tgtEl>
                                          <p:spTgt spid="7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9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1" build="p" bldLvl="5" animBg="1" advAuto="0"/>
      <p:bldP spid="71" grpId="2" animBg="1" advAuto="0"/>
      <p:bldP spid="72" grpId="3" animBg="1" advAuto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eneral Exception: ClassNotFoundException (3/3)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859536">
              <a:defRPr sz="3384"/>
            </a:lvl1pPr>
          </a:lstStyle>
          <a:p>
            <a:r>
              <a:t>General Exception: ClassNotFoundException (3/3)</a:t>
            </a:r>
          </a:p>
        </p:txBody>
      </p:sp>
      <p:sp>
        <p:nvSpPr>
          <p:cNvPr id="77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11942532" y="6443875"/>
            <a:ext cx="180339" cy="24002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7</a:t>
            </a:fld>
            <a:endParaRPr/>
          </a:p>
        </p:txBody>
      </p:sp>
      <p:sp>
        <p:nvSpPr>
          <p:cNvPr id="78" name="class TempClass1 { }…"/>
          <p:cNvSpPr txBox="1"/>
          <p:nvPr/>
        </p:nvSpPr>
        <p:spPr>
          <a:xfrm>
            <a:off x="783451" y="967299"/>
            <a:ext cx="10634622" cy="3961764"/>
          </a:xfrm>
          <a:prstGeom prst="rect">
            <a:avLst/>
          </a:prstGeom>
          <a:ln>
            <a:solidFill>
              <a:srgbClr val="A7A7A7"/>
            </a:solidFill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8" tIns="45718" rIns="45718" bIns="45718" anchor="ctr">
            <a:spAutoFit/>
          </a:bodyPr>
          <a:lstStyle/>
          <a:p>
            <a:pPr defTabSz="502284">
              <a:tabLst>
                <a:tab pos="495300" algn="l"/>
              </a:tabLst>
              <a:defRPr sz="1600">
                <a:solidFill>
                  <a:srgbClr val="000000">
                    <a:alpha val="85000"/>
                  </a:srgb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b="1">
                <a:solidFill>
                  <a:srgbClr val="AD3DA4"/>
                </a:solidFill>
              </a:rPr>
              <a:t>class</a:t>
            </a:r>
            <a:r>
              <a:t> TempClass1 { }</a:t>
            </a:r>
          </a:p>
          <a:p>
            <a:pPr defTabSz="502284">
              <a:tabLst>
                <a:tab pos="495300" algn="l"/>
              </a:tabLst>
              <a:defRPr sz="1600">
                <a:solidFill>
                  <a:srgbClr val="000000">
                    <a:alpha val="85000"/>
                  </a:srgb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endParaRPr/>
          </a:p>
          <a:p>
            <a:pPr defTabSz="502284">
              <a:tabLst>
                <a:tab pos="495300" algn="l"/>
              </a:tabLst>
              <a:defRPr sz="1600">
                <a:solidFill>
                  <a:srgbClr val="000000">
                    <a:alpha val="85000"/>
                  </a:srgb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b="1">
                <a:solidFill>
                  <a:srgbClr val="AD3DA4"/>
                </a:solidFill>
              </a:rPr>
              <a:t>public</a:t>
            </a:r>
            <a:r>
              <a:t> </a:t>
            </a:r>
            <a:r>
              <a:rPr b="1">
                <a:solidFill>
                  <a:srgbClr val="AD3DA4"/>
                </a:solidFill>
              </a:rPr>
              <a:t>class</a:t>
            </a:r>
            <a:r>
              <a:t> ClassClass {</a:t>
            </a:r>
          </a:p>
          <a:p>
            <a:pPr defTabSz="502284">
              <a:tabLst>
                <a:tab pos="495300" algn="l"/>
              </a:tabLst>
              <a:defRPr sz="1600">
                <a:solidFill>
                  <a:srgbClr val="000000">
                    <a:alpha val="85000"/>
                  </a:srgb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</a:t>
            </a:r>
            <a:r>
              <a:rPr b="1">
                <a:solidFill>
                  <a:srgbClr val="AD3DA4"/>
                </a:solidFill>
              </a:rPr>
              <a:t>public</a:t>
            </a:r>
            <a:r>
              <a:t> </a:t>
            </a:r>
            <a:r>
              <a:rPr b="1">
                <a:solidFill>
                  <a:srgbClr val="AD3DA4"/>
                </a:solidFill>
              </a:rPr>
              <a:t>static</a:t>
            </a:r>
            <a:r>
              <a:t> </a:t>
            </a:r>
            <a:r>
              <a:rPr b="1">
                <a:solidFill>
                  <a:srgbClr val="AD3DA4"/>
                </a:solidFill>
              </a:rPr>
              <a:t>void</a:t>
            </a:r>
            <a:r>
              <a:t> main(String[] args) {</a:t>
            </a:r>
          </a:p>
          <a:p>
            <a:pPr defTabSz="502284">
              <a:tabLst>
                <a:tab pos="495300" algn="l"/>
              </a:tabLst>
              <a:defRPr sz="1600">
                <a:solidFill>
                  <a:srgbClr val="000000">
                    <a:alpha val="85000"/>
                  </a:srgb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    TempClass1 t1 = </a:t>
            </a:r>
            <a:r>
              <a:rPr b="1">
                <a:solidFill>
                  <a:srgbClr val="AD3DA4"/>
                </a:solidFill>
              </a:rPr>
              <a:t>new</a:t>
            </a:r>
            <a:r>
              <a:t> TempClass1();</a:t>
            </a:r>
          </a:p>
          <a:p>
            <a:pPr defTabSz="502284">
              <a:tabLst>
                <a:tab pos="495300" algn="l"/>
              </a:tabLst>
              <a:defRPr sz="1600">
                <a:solidFill>
                  <a:srgbClr val="000000">
                    <a:alpha val="85000"/>
                  </a:srgb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    Class classInfo;</a:t>
            </a:r>
          </a:p>
          <a:p>
            <a:pPr defTabSz="502284">
              <a:tabLst>
                <a:tab pos="495300" algn="l"/>
              </a:tabLst>
              <a:defRPr sz="1600">
                <a:solidFill>
                  <a:srgbClr val="000000">
                    <a:alpha val="85000"/>
                  </a:srgb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    System.out.println(</a:t>
            </a:r>
            <a:r>
              <a:rPr>
                <a:solidFill>
                  <a:srgbClr val="D12F1B"/>
                </a:solidFill>
              </a:rPr>
              <a:t>"t1.getClass() returns: "</a:t>
            </a:r>
            <a:r>
              <a:t> + t1.getClass());</a:t>
            </a:r>
          </a:p>
          <a:p>
            <a:pPr defTabSz="502284">
              <a:tabLst>
                <a:tab pos="495300" algn="l"/>
              </a:tabLst>
              <a:defRPr sz="1600">
                <a:solidFill>
                  <a:srgbClr val="000000">
                    <a:alpha val="85000"/>
                  </a:srgb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    </a:t>
            </a:r>
            <a:r>
              <a:rPr b="1">
                <a:solidFill>
                  <a:srgbClr val="AD3DA4"/>
                </a:solidFill>
              </a:rPr>
              <a:t>try</a:t>
            </a:r>
            <a:r>
              <a:t> {</a:t>
            </a:r>
          </a:p>
          <a:p>
            <a:pPr defTabSz="502284">
              <a:tabLst>
                <a:tab pos="495300" algn="l"/>
              </a:tabLst>
              <a:defRPr sz="1600">
                <a:solidFill>
                  <a:srgbClr val="000000">
                    <a:alpha val="85000"/>
                  </a:srgb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        classInfo = Class.forName(</a:t>
            </a:r>
            <a:r>
              <a:rPr>
                <a:solidFill>
                  <a:srgbClr val="D12F1B"/>
                </a:solidFill>
              </a:rPr>
              <a:t>"TempClass1"</a:t>
            </a:r>
            <a:r>
              <a:t>);</a:t>
            </a:r>
          </a:p>
          <a:p>
            <a:pPr defTabSz="502284">
              <a:tabLst>
                <a:tab pos="495300" algn="l"/>
              </a:tabLst>
              <a:defRPr sz="1600">
                <a:solidFill>
                  <a:srgbClr val="000000">
                    <a:alpha val="85000"/>
                  </a:srgb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        System.out.println(</a:t>
            </a:r>
            <a:r>
              <a:rPr>
                <a:solidFill>
                  <a:srgbClr val="D12F1B"/>
                </a:solidFill>
              </a:rPr>
              <a:t>"classInfo: "</a:t>
            </a:r>
            <a:r>
              <a:t> + classInfo);</a:t>
            </a:r>
          </a:p>
          <a:p>
            <a:pPr defTabSz="502284">
              <a:tabLst>
                <a:tab pos="495300" algn="l"/>
              </a:tabLst>
              <a:defRPr sz="1600">
                <a:solidFill>
                  <a:srgbClr val="000000">
                    <a:alpha val="85000"/>
                  </a:srgb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        System.out.println(</a:t>
            </a:r>
            <a:r>
              <a:rPr>
                <a:solidFill>
                  <a:srgbClr val="D12F1B"/>
                </a:solidFill>
              </a:rPr>
              <a:t>"classInfo.getName() returns: "</a:t>
            </a:r>
            <a:r>
              <a:t> + classInfo.getName());</a:t>
            </a:r>
          </a:p>
          <a:p>
            <a:pPr defTabSz="502284">
              <a:tabLst>
                <a:tab pos="495300" algn="l"/>
              </a:tabLst>
              <a:defRPr sz="1600">
                <a:solidFill>
                  <a:srgbClr val="000000">
                    <a:alpha val="85000"/>
                  </a:srgb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    } </a:t>
            </a:r>
            <a:r>
              <a:rPr b="1">
                <a:solidFill>
                  <a:srgbClr val="AD3DA4"/>
                </a:solidFill>
              </a:rPr>
              <a:t>catch</a:t>
            </a:r>
            <a:r>
              <a:t> (ClassNotFoundException e) {</a:t>
            </a:r>
          </a:p>
          <a:p>
            <a:pPr defTabSz="502284">
              <a:tabLst>
                <a:tab pos="495300" algn="l"/>
              </a:tabLst>
              <a:defRPr sz="1600">
                <a:solidFill>
                  <a:srgbClr val="D12F1B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000000">
                    <a:alpha val="85000"/>
                  </a:srgbClr>
                </a:solidFill>
              </a:rPr>
              <a:t>            System.out.println(</a:t>
            </a:r>
            <a:r>
              <a:t>"Class not found \"TempClass1\""</a:t>
            </a:r>
            <a:r>
              <a:rPr>
                <a:solidFill>
                  <a:srgbClr val="000000">
                    <a:alpha val="85000"/>
                  </a:srgbClr>
                </a:solidFill>
              </a:rPr>
              <a:t>);</a:t>
            </a:r>
          </a:p>
          <a:p>
            <a:pPr defTabSz="502284">
              <a:tabLst>
                <a:tab pos="495300" algn="l"/>
              </a:tabLst>
              <a:defRPr sz="1600">
                <a:solidFill>
                  <a:srgbClr val="000000">
                    <a:alpha val="85000"/>
                  </a:srgb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    }</a:t>
            </a:r>
          </a:p>
          <a:p>
            <a:pPr defTabSz="502284">
              <a:tabLst>
                <a:tab pos="495300" algn="l"/>
              </a:tabLst>
              <a:defRPr sz="1600">
                <a:solidFill>
                  <a:srgbClr val="000000">
                    <a:alpha val="85000"/>
                  </a:srgb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}</a:t>
            </a:r>
          </a:p>
          <a:p>
            <a:pPr defTabSz="502284">
              <a:tabLst>
                <a:tab pos="495300" algn="l"/>
              </a:tabLst>
              <a:defRPr sz="1600">
                <a:solidFill>
                  <a:srgbClr val="000000">
                    <a:alpha val="85000"/>
                  </a:srgb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}</a:t>
            </a:r>
          </a:p>
        </p:txBody>
      </p:sp>
      <p:sp>
        <p:nvSpPr>
          <p:cNvPr id="79" name="t1.getClass() returns: class TempClass1…"/>
          <p:cNvSpPr txBox="1"/>
          <p:nvPr/>
        </p:nvSpPr>
        <p:spPr>
          <a:xfrm>
            <a:off x="6326212" y="4572904"/>
            <a:ext cx="4884796" cy="824864"/>
          </a:xfrm>
          <a:prstGeom prst="rect">
            <a:avLst/>
          </a:prstGeom>
          <a:solidFill>
            <a:srgbClr val="FFFFFF"/>
          </a:solidFill>
          <a:ln>
            <a:solidFill>
              <a:srgbClr val="A7A7A7"/>
            </a:solidFill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8" tIns="45718" rIns="45718" bIns="45718" anchor="ctr">
            <a:spAutoFit/>
          </a:bodyPr>
          <a:lstStyle/>
          <a:p>
            <a:pPr defTabSz="502284">
              <a:tabLst>
                <a:tab pos="495300" algn="l"/>
              </a:tabLst>
              <a:defRPr sz="1600">
                <a:solidFill>
                  <a:srgbClr val="000000">
                    <a:alpha val="85000"/>
                  </a:srgb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t1.getClass() returns: </a:t>
            </a:r>
            <a:r>
              <a:rPr b="1">
                <a:solidFill>
                  <a:srgbClr val="AD3DA4"/>
                </a:solidFill>
              </a:rPr>
              <a:t>class</a:t>
            </a:r>
            <a:r>
              <a:t> TempClass1</a:t>
            </a:r>
          </a:p>
          <a:p>
            <a:pPr defTabSz="502284">
              <a:tabLst>
                <a:tab pos="495300" algn="l"/>
              </a:tabLst>
              <a:defRPr sz="1600">
                <a:solidFill>
                  <a:srgbClr val="000000">
                    <a:alpha val="85000"/>
                  </a:srgb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classInfo: </a:t>
            </a:r>
            <a:r>
              <a:rPr b="1">
                <a:solidFill>
                  <a:srgbClr val="AD3DA4"/>
                </a:solidFill>
              </a:rPr>
              <a:t>class</a:t>
            </a:r>
            <a:r>
              <a:t> TempClass1</a:t>
            </a:r>
          </a:p>
          <a:p>
            <a:pPr defTabSz="502284">
              <a:tabLst>
                <a:tab pos="495300" algn="l"/>
              </a:tabLst>
              <a:defRPr sz="1600">
                <a:solidFill>
                  <a:srgbClr val="000000">
                    <a:alpha val="85000"/>
                  </a:srgb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classInfo.getName() returns: TempClass1</a:t>
            </a:r>
          </a:p>
        </p:txBody>
      </p:sp>
      <p:sp>
        <p:nvSpPr>
          <p:cNvPr id="80" name="모서리가 둥근 직사각형"/>
          <p:cNvSpPr/>
          <p:nvPr/>
        </p:nvSpPr>
        <p:spPr>
          <a:xfrm>
            <a:off x="1726276" y="2697676"/>
            <a:ext cx="548286" cy="302259"/>
          </a:xfrm>
          <a:prstGeom prst="roundRect">
            <a:avLst>
              <a:gd name="adj" fmla="val 50000"/>
            </a:avLst>
          </a:prstGeom>
          <a:ln w="25400">
            <a:solidFill>
              <a:srgbClr val="FF2600"/>
            </a:solidFill>
          </a:ln>
        </p:spPr>
        <p:txBody>
          <a:bodyPr lIns="45718" tIns="45718" rIns="45718" bIns="45718" anchor="ctr"/>
          <a:lstStyle/>
          <a:p>
            <a:endParaRPr/>
          </a:p>
        </p:txBody>
      </p:sp>
      <p:sp>
        <p:nvSpPr>
          <p:cNvPr id="81" name="모서리가 둥근 직사각형"/>
          <p:cNvSpPr/>
          <p:nvPr/>
        </p:nvSpPr>
        <p:spPr>
          <a:xfrm>
            <a:off x="2021545" y="3667142"/>
            <a:ext cx="745646" cy="302259"/>
          </a:xfrm>
          <a:prstGeom prst="roundRect">
            <a:avLst>
              <a:gd name="adj" fmla="val 50000"/>
            </a:avLst>
          </a:prstGeom>
          <a:ln w="25400">
            <a:solidFill>
              <a:srgbClr val="FF2600"/>
            </a:solidFill>
          </a:ln>
        </p:spPr>
        <p:txBody>
          <a:bodyPr lIns="45718" tIns="45718" rIns="45718" bIns="45718" anchor="ctr"/>
          <a:lstStyle/>
          <a:p>
            <a:endParaRPr/>
          </a:p>
        </p:txBody>
      </p:sp>
      <p:sp>
        <p:nvSpPr>
          <p:cNvPr id="82" name="모서리가 둥근 직사각형"/>
          <p:cNvSpPr/>
          <p:nvPr/>
        </p:nvSpPr>
        <p:spPr>
          <a:xfrm>
            <a:off x="3715705" y="2912881"/>
            <a:ext cx="1691425" cy="302259"/>
          </a:xfrm>
          <a:prstGeom prst="roundRect">
            <a:avLst>
              <a:gd name="adj" fmla="val 50000"/>
            </a:avLst>
          </a:prstGeom>
          <a:ln w="25400">
            <a:solidFill>
              <a:srgbClr val="FF2600"/>
            </a:solidFill>
          </a:ln>
        </p:spPr>
        <p:txBody>
          <a:bodyPr lIns="45718" tIns="45718" rIns="45718" bIns="45718" anchor="ctr"/>
          <a:lstStyle/>
          <a:p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7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7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9" fill="hold"/>
                                        <p:tgtEl>
                                          <p:spTgt spid="7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5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9" fill="hold"/>
                                        <p:tgtEl>
                                          <p:spTgt spid="7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2" fill="hold"/>
                                        <p:tgtEl>
                                          <p:spTgt spid="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6" fill="hold"/>
                                        <p:tgtEl>
                                          <p:spTgt spid="7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9" fill="hold"/>
                                        <p:tgtEl>
                                          <p:spTgt spid="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3" fill="hold"/>
                                        <p:tgtEl>
                                          <p:spTgt spid="7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5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6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9" fill="hold"/>
                                        <p:tgtEl>
                                          <p:spTgt spid="7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2" fill="hold"/>
                                        <p:tgtEl>
                                          <p:spTgt spid="7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5" fill="hold"/>
                                        <p:tgtEl>
                                          <p:spTgt spid="7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8" fill="hold"/>
                                        <p:tgtEl>
                                          <p:spTgt spid="7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" grpId="1" build="p" bldLvl="5" animBg="1" advAuto="0"/>
      <p:bldP spid="79" grpId="2" build="p" bldLvl="5" animBg="1" advAuto="0"/>
      <p:bldP spid="80" grpId="3" animBg="1" advAuto="0"/>
      <p:bldP spid="81" grpId="5" animBg="1" advAuto="0"/>
      <p:bldP spid="82" grpId="4" animBg="1" advAuto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eneral Exception: java.io.IOExcep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General Exception: java.io.IOException</a:t>
            </a:r>
          </a:p>
        </p:txBody>
      </p:sp>
      <p:sp>
        <p:nvSpPr>
          <p:cNvPr id="87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11942532" y="6443875"/>
            <a:ext cx="180339" cy="24002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8</a:t>
            </a:fld>
            <a:endParaRPr/>
          </a:p>
        </p:txBody>
      </p:sp>
      <p:sp>
        <p:nvSpPr>
          <p:cNvPr id="88" name="public class IOExceptionExample {…"/>
          <p:cNvSpPr txBox="1"/>
          <p:nvPr/>
        </p:nvSpPr>
        <p:spPr>
          <a:xfrm>
            <a:off x="685466" y="1060192"/>
            <a:ext cx="10775081" cy="3670816"/>
          </a:xfrm>
          <a:prstGeom prst="rect">
            <a:avLst/>
          </a:prstGeom>
          <a:ln>
            <a:solidFill>
              <a:srgbClr val="BFBFBF"/>
            </a:solidFill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 defTabSz="502284">
              <a:tabLst>
                <a:tab pos="495300" algn="l"/>
              </a:tabLst>
              <a:defRPr sz="1700">
                <a:solidFill>
                  <a:srgbClr val="000000">
                    <a:alpha val="85000"/>
                  </a:srgb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b="1">
                <a:solidFill>
                  <a:srgbClr val="AD3DA4"/>
                </a:solidFill>
              </a:rPr>
              <a:t>public</a:t>
            </a:r>
            <a:r>
              <a:t> </a:t>
            </a:r>
            <a:r>
              <a:rPr b="1">
                <a:solidFill>
                  <a:srgbClr val="AD3DA4"/>
                </a:solidFill>
              </a:rPr>
              <a:t>class</a:t>
            </a:r>
            <a:r>
              <a:t> IOExceptionExample {</a:t>
            </a:r>
          </a:p>
          <a:p>
            <a:pPr defTabSz="502284">
              <a:tabLst>
                <a:tab pos="495300" algn="l"/>
              </a:tabLst>
              <a:defRPr sz="1700">
                <a:solidFill>
                  <a:srgbClr val="000000">
                    <a:alpha val="85000"/>
                  </a:srgb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</a:t>
            </a:r>
            <a:r>
              <a:rPr b="1">
                <a:solidFill>
                  <a:srgbClr val="AD3DA4"/>
                </a:solidFill>
              </a:rPr>
              <a:t>public</a:t>
            </a:r>
            <a:r>
              <a:t> </a:t>
            </a:r>
            <a:r>
              <a:rPr b="1">
                <a:solidFill>
                  <a:srgbClr val="AD3DA4"/>
                </a:solidFill>
              </a:rPr>
              <a:t>static</a:t>
            </a:r>
            <a:r>
              <a:t> </a:t>
            </a:r>
            <a:r>
              <a:rPr b="1">
                <a:solidFill>
                  <a:srgbClr val="AD3DA4"/>
                </a:solidFill>
              </a:rPr>
              <a:t>void</a:t>
            </a:r>
            <a:r>
              <a:t> main(String[] args) {</a:t>
            </a:r>
          </a:p>
          <a:p>
            <a:pPr defTabSz="502284">
              <a:tabLst>
                <a:tab pos="495300" algn="l"/>
              </a:tabLst>
              <a:defRPr sz="1700">
                <a:solidFill>
                  <a:srgbClr val="000000">
                    <a:alpha val="85000"/>
                  </a:srgb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    BufferedReader reader = </a:t>
            </a:r>
            <a:r>
              <a:rPr b="1">
                <a:solidFill>
                  <a:srgbClr val="AD3DA4"/>
                </a:solidFill>
              </a:rPr>
              <a:t>null</a:t>
            </a:r>
            <a:r>
              <a:t>;</a:t>
            </a:r>
          </a:p>
          <a:p>
            <a:pPr defTabSz="502284">
              <a:tabLst>
                <a:tab pos="495300" algn="l"/>
              </a:tabLst>
              <a:defRPr sz="1700">
                <a:solidFill>
                  <a:srgbClr val="000000">
                    <a:alpha val="85000"/>
                  </a:srgb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    </a:t>
            </a:r>
            <a:r>
              <a:rPr b="1">
                <a:solidFill>
                  <a:srgbClr val="AD3DA4"/>
                </a:solidFill>
              </a:rPr>
              <a:t>try</a:t>
            </a:r>
            <a:r>
              <a:t> {</a:t>
            </a:r>
          </a:p>
          <a:p>
            <a:pPr defTabSz="502284">
              <a:tabLst>
                <a:tab pos="495300" algn="l"/>
              </a:tabLst>
              <a:defRPr sz="1700">
                <a:solidFill>
                  <a:srgbClr val="000000">
                    <a:alpha val="85000"/>
                  </a:srgb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        reader = </a:t>
            </a:r>
            <a:r>
              <a:rPr b="1">
                <a:solidFill>
                  <a:srgbClr val="AD3DA4"/>
                </a:solidFill>
              </a:rPr>
              <a:t>new</a:t>
            </a:r>
            <a:r>
              <a:t> BufferedReader(</a:t>
            </a:r>
            <a:r>
              <a:rPr b="1">
                <a:solidFill>
                  <a:srgbClr val="AD3DA4"/>
                </a:solidFill>
              </a:rPr>
              <a:t>new</a:t>
            </a:r>
            <a:r>
              <a:t> FileReader(</a:t>
            </a:r>
            <a:r>
              <a:rPr>
                <a:solidFill>
                  <a:schemeClr val="accent3">
                    <a:satOff val="-6373"/>
                    <a:lumOff val="-10823"/>
                  </a:schemeClr>
                </a:solidFill>
              </a:rPr>
              <a:t>"example.txt"</a:t>
            </a:r>
            <a:r>
              <a:t>));</a:t>
            </a:r>
          </a:p>
          <a:p>
            <a:pPr defTabSz="502284">
              <a:tabLst>
                <a:tab pos="495300" algn="l"/>
              </a:tabLst>
              <a:defRPr sz="1700">
                <a:solidFill>
                  <a:srgbClr val="000000">
                    <a:alpha val="85000"/>
                  </a:srgb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        String line;</a:t>
            </a:r>
          </a:p>
          <a:p>
            <a:pPr defTabSz="502284">
              <a:tabLst>
                <a:tab pos="495300" algn="l"/>
              </a:tabLst>
              <a:defRPr sz="1700">
                <a:solidFill>
                  <a:srgbClr val="000000">
                    <a:alpha val="85000"/>
                  </a:srgb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        </a:t>
            </a:r>
            <a:r>
              <a:rPr b="1">
                <a:solidFill>
                  <a:srgbClr val="AD3DA4"/>
                </a:solidFill>
              </a:rPr>
              <a:t>while</a:t>
            </a:r>
            <a:r>
              <a:t> ((line = reader.readLine()) != </a:t>
            </a:r>
            <a:r>
              <a:rPr b="1">
                <a:solidFill>
                  <a:srgbClr val="AD3DA4"/>
                </a:solidFill>
              </a:rPr>
              <a:t>null</a:t>
            </a:r>
            <a:r>
              <a:t>) {</a:t>
            </a:r>
          </a:p>
          <a:p>
            <a:pPr defTabSz="502284">
              <a:tabLst>
                <a:tab pos="495300" algn="l"/>
              </a:tabLst>
              <a:defRPr sz="1700">
                <a:solidFill>
                  <a:srgbClr val="000000">
                    <a:alpha val="85000"/>
                  </a:srgb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            System.out.println(line);</a:t>
            </a:r>
          </a:p>
          <a:p>
            <a:pPr defTabSz="502284">
              <a:tabLst>
                <a:tab pos="495300" algn="l"/>
              </a:tabLst>
              <a:defRPr sz="1700">
                <a:solidFill>
                  <a:srgbClr val="000000">
                    <a:alpha val="85000"/>
                  </a:srgb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        }</a:t>
            </a:r>
          </a:p>
          <a:p>
            <a:pPr defTabSz="502284">
              <a:tabLst>
                <a:tab pos="495300" algn="l"/>
              </a:tabLst>
              <a:defRPr sz="1700">
                <a:solidFill>
                  <a:srgbClr val="000000">
                    <a:alpha val="85000"/>
                  </a:srgb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    } </a:t>
            </a:r>
          </a:p>
          <a:p>
            <a:pPr defTabSz="502284">
              <a:tabLst>
                <a:tab pos="495300" algn="l"/>
              </a:tabLst>
              <a:defRPr sz="1700">
                <a:solidFill>
                  <a:srgbClr val="000000">
                    <a:alpha val="85000"/>
                  </a:srgb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    </a:t>
            </a:r>
            <a:r>
              <a:rPr b="1">
                <a:solidFill>
                  <a:srgbClr val="AD3DA4"/>
                </a:solidFill>
              </a:rPr>
              <a:t>catch</a:t>
            </a:r>
            <a:r>
              <a:t> (IOException e) {</a:t>
            </a:r>
          </a:p>
          <a:p>
            <a:pPr defTabSz="502284">
              <a:tabLst>
                <a:tab pos="495300" algn="l"/>
              </a:tabLst>
              <a:defRPr sz="1700">
                <a:solidFill>
                  <a:srgbClr val="000000">
                    <a:alpha val="85000"/>
                  </a:srgb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        System.out.println(</a:t>
            </a:r>
            <a:r>
              <a:rPr>
                <a:solidFill>
                  <a:schemeClr val="accent3">
                    <a:satOff val="-6373"/>
                    <a:lumOff val="-10823"/>
                  </a:schemeClr>
                </a:solidFill>
              </a:rPr>
              <a:t>"파일을 read 중에 오류가 발생: "</a:t>
            </a:r>
            <a:r>
              <a:t> + e.getMessage());</a:t>
            </a:r>
          </a:p>
          <a:p>
            <a:pPr defTabSz="502284">
              <a:tabLst>
                <a:tab pos="495300" algn="l"/>
              </a:tabLst>
              <a:defRPr sz="1700">
                <a:solidFill>
                  <a:srgbClr val="000000">
                    <a:alpha val="85000"/>
                  </a:srgb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        e.printStackTrace();</a:t>
            </a:r>
          </a:p>
          <a:p>
            <a:pPr defTabSz="502284">
              <a:tabLst>
                <a:tab pos="495300" algn="l"/>
              </a:tabLst>
              <a:defRPr sz="1700">
                <a:solidFill>
                  <a:srgbClr val="000000">
                    <a:alpha val="85000"/>
                  </a:srgb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    }</a:t>
            </a:r>
          </a:p>
        </p:txBody>
      </p:sp>
      <p:sp>
        <p:nvSpPr>
          <p:cNvPr id="89" name="모서리가 둥근 직사각형"/>
          <p:cNvSpPr/>
          <p:nvPr/>
        </p:nvSpPr>
        <p:spPr>
          <a:xfrm>
            <a:off x="6398050" y="2075879"/>
            <a:ext cx="3371759" cy="290829"/>
          </a:xfrm>
          <a:prstGeom prst="roundRect">
            <a:avLst>
              <a:gd name="adj" fmla="val 50000"/>
            </a:avLst>
          </a:prstGeom>
          <a:ln w="25400">
            <a:solidFill>
              <a:srgbClr val="FF2600"/>
            </a:solidFill>
          </a:ln>
        </p:spPr>
        <p:txBody>
          <a:bodyPr lIns="45718" tIns="45718" rIns="45718" bIns="45718" anchor="ctr"/>
          <a:lstStyle/>
          <a:p>
            <a:endParaRPr/>
          </a:p>
        </p:txBody>
      </p:sp>
      <p:sp>
        <p:nvSpPr>
          <p:cNvPr id="90" name="모서리가 둥근 직사각형"/>
          <p:cNvSpPr/>
          <p:nvPr/>
        </p:nvSpPr>
        <p:spPr>
          <a:xfrm>
            <a:off x="2186003" y="3859825"/>
            <a:ext cx="8617496" cy="308862"/>
          </a:xfrm>
          <a:prstGeom prst="roundRect">
            <a:avLst>
              <a:gd name="adj" fmla="val 50000"/>
            </a:avLst>
          </a:prstGeom>
          <a:ln w="25400">
            <a:solidFill>
              <a:srgbClr val="FF2600"/>
            </a:solidFill>
          </a:ln>
        </p:spPr>
        <p:txBody>
          <a:bodyPr lIns="45718" tIns="45718" rIns="45718" bIns="45718" anchor="ctr"/>
          <a:lstStyle/>
          <a:p>
            <a:endParaRPr/>
          </a:p>
        </p:txBody>
      </p:sp>
      <p:sp>
        <p:nvSpPr>
          <p:cNvPr id="91" name="직사각형"/>
          <p:cNvSpPr/>
          <p:nvPr/>
        </p:nvSpPr>
        <p:spPr>
          <a:xfrm>
            <a:off x="1737320" y="1864552"/>
            <a:ext cx="9208040" cy="1777214"/>
          </a:xfrm>
          <a:prstGeom prst="rect">
            <a:avLst/>
          </a:prstGeom>
          <a:ln w="25400">
            <a:solidFill>
              <a:srgbClr val="FF2600"/>
            </a:solidFill>
          </a:ln>
        </p:spPr>
        <p:txBody>
          <a:bodyPr lIns="45718" tIns="45718" rIns="45718" bIns="45718" anchor="ctr"/>
          <a:lstStyle/>
          <a:p>
            <a:pPr>
              <a:defRPr>
                <a:solidFill>
                  <a:srgbClr val="FF2600"/>
                </a:solidFill>
              </a:defRPr>
            </a:pPr>
            <a:endParaRPr/>
          </a:p>
        </p:txBody>
      </p:sp>
      <p:sp>
        <p:nvSpPr>
          <p:cNvPr id="92" name="직사각형"/>
          <p:cNvSpPr/>
          <p:nvPr/>
        </p:nvSpPr>
        <p:spPr>
          <a:xfrm>
            <a:off x="1737320" y="3652474"/>
            <a:ext cx="9208040" cy="1036748"/>
          </a:xfrm>
          <a:prstGeom prst="rect">
            <a:avLst/>
          </a:prstGeom>
          <a:ln w="25400">
            <a:solidFill>
              <a:srgbClr val="FF2600"/>
            </a:solidFill>
          </a:ln>
        </p:spPr>
        <p:txBody>
          <a:bodyPr lIns="45718" tIns="45718" rIns="45718" bIns="45718" anchor="ctr"/>
          <a:lstStyle/>
          <a:p>
            <a:pPr>
              <a:defRPr>
                <a:solidFill>
                  <a:srgbClr val="FF2600"/>
                </a:solidFill>
              </a:defRPr>
            </a:pPr>
            <a:endParaRPr/>
          </a:p>
        </p:txBody>
      </p:sp>
      <p:sp>
        <p:nvSpPr>
          <p:cNvPr id="93" name="모서리가 둥근 직사각형"/>
          <p:cNvSpPr/>
          <p:nvPr/>
        </p:nvSpPr>
        <p:spPr>
          <a:xfrm>
            <a:off x="2186003" y="4160954"/>
            <a:ext cx="2841262" cy="308862"/>
          </a:xfrm>
          <a:prstGeom prst="roundRect">
            <a:avLst>
              <a:gd name="adj" fmla="val 50000"/>
            </a:avLst>
          </a:prstGeom>
          <a:ln w="25400">
            <a:solidFill>
              <a:srgbClr val="FF2600"/>
            </a:solidFill>
          </a:ln>
        </p:spPr>
        <p:txBody>
          <a:bodyPr lIns="45718" tIns="45718" rIns="45718" bIns="45718" anchor="ctr"/>
          <a:lstStyle/>
          <a:p>
            <a:endParaRPr/>
          </a:p>
        </p:txBody>
      </p:sp>
      <p:sp>
        <p:nvSpPr>
          <p:cNvPr id="94" name="파일을 read 중에 오류가 발생: example.txt (No such file or directory)…"/>
          <p:cNvSpPr txBox="1"/>
          <p:nvPr/>
        </p:nvSpPr>
        <p:spPr>
          <a:xfrm>
            <a:off x="1869140" y="4815234"/>
            <a:ext cx="8407734" cy="1739264"/>
          </a:xfrm>
          <a:prstGeom prst="rect">
            <a:avLst/>
          </a:prstGeom>
          <a:ln>
            <a:solidFill>
              <a:srgbClr val="BFBFBF"/>
            </a:solidFill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>
              <a:defRPr sz="1400">
                <a:solidFill>
                  <a:schemeClr val="accent6">
                    <a:satOff val="-35873"/>
                    <a:lumOff val="-12431"/>
                  </a:scheme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파일을 read 중에 오류가 발생: example.txt (No such file or directory)</a:t>
            </a:r>
          </a:p>
          <a:p>
            <a:pPr>
              <a:defRPr sz="1400">
                <a:solidFill>
                  <a:schemeClr val="accent6">
                    <a:satOff val="-35873"/>
                    <a:lumOff val="-12431"/>
                  </a:scheme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java.io.FileNotFoundException: example.txt (No such file or directory)</a:t>
            </a:r>
          </a:p>
          <a:p>
            <a:pPr>
              <a:defRPr sz="1400">
                <a:solidFill>
                  <a:schemeClr val="accent6">
                    <a:satOff val="-35873"/>
                    <a:lumOff val="-12431"/>
                  </a:scheme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	at java.base/java.io.FileInputStream.open0(Native Method)</a:t>
            </a:r>
          </a:p>
          <a:p>
            <a:pPr>
              <a:defRPr sz="1400">
                <a:solidFill>
                  <a:schemeClr val="accent6">
                    <a:satOff val="-35873"/>
                    <a:lumOff val="-12431"/>
                  </a:scheme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	at java.base/java.io.FileInputStream.open(FileInputStream.java:213)</a:t>
            </a:r>
          </a:p>
          <a:p>
            <a:pPr>
              <a:defRPr sz="1400">
                <a:solidFill>
                  <a:schemeClr val="accent6">
                    <a:satOff val="-35873"/>
                    <a:lumOff val="-12431"/>
                  </a:scheme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	at java.base/java.io.FileInputStream.&lt;init&gt;(FileInputStream.java:152)</a:t>
            </a:r>
          </a:p>
          <a:p>
            <a:pPr>
              <a:defRPr sz="1400">
                <a:solidFill>
                  <a:schemeClr val="accent6">
                    <a:satOff val="-35873"/>
                    <a:lumOff val="-12431"/>
                  </a:scheme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	at java.base/java.io.FileInputStream.&lt;init&gt;(FileInputStream.java:106)</a:t>
            </a:r>
          </a:p>
          <a:p>
            <a:pPr>
              <a:defRPr sz="1400">
                <a:solidFill>
                  <a:schemeClr val="accent6">
                    <a:satOff val="-35873"/>
                    <a:lumOff val="-12431"/>
                  </a:scheme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	at java.base/java.io.FileReader.&lt;init&gt;(FileReader.java:60)</a:t>
            </a:r>
          </a:p>
          <a:p>
            <a:pPr>
              <a:defRPr sz="1400">
                <a:solidFill>
                  <a:schemeClr val="accent6">
                    <a:satOff val="-35873"/>
                    <a:lumOff val="-12431"/>
                  </a:scheme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	at IOExceptionExample.main(IOExceptionExample.java:9)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xit" presetSubtype="0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5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6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7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9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7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xit" presetSubtype="0" fill="hold" grpId="8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9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7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7" fill="hold"/>
                                        <p:tgtEl>
                                          <p:spTgt spid="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7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fill="hold"/>
                                        <p:tgtEl>
                                          <p:spTgt spid="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7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3" fill="hold"/>
                                        <p:tgtEl>
                                          <p:spTgt spid="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7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7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9" fill="hold"/>
                                        <p:tgtEl>
                                          <p:spTgt spid="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7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2" fill="hold"/>
                                        <p:tgtEl>
                                          <p:spTgt spid="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7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5" fill="hold"/>
                                        <p:tgtEl>
                                          <p:spTgt spid="9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" grpId="2" animBg="1" advAuto="0"/>
      <p:bldP spid="89" grpId="4" animBg="1" advAuto="0"/>
      <p:bldP spid="90" grpId="6" animBg="1" advAuto="0"/>
      <p:bldP spid="90" grpId="8" animBg="1" advAuto="0"/>
      <p:bldP spid="91" grpId="1" animBg="1" advAuto="0"/>
      <p:bldP spid="91" grpId="3" animBg="1" advAuto="0"/>
      <p:bldP spid="92" grpId="5" animBg="1" advAuto="0"/>
      <p:bldP spid="93" grpId="9" animBg="1" advAuto="0"/>
      <p:bldP spid="94" grpId="7" build="p" bldLvl="5" animBg="1" advAuto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제목 1"/>
          <p:cNvSpPr txBox="1">
            <a:spLocks noGrp="1"/>
          </p:cNvSpPr>
          <p:nvPr>
            <p:ph type="title"/>
          </p:nvPr>
        </p:nvSpPr>
        <p:spPr>
          <a:xfrm>
            <a:off x="551383" y="260647"/>
            <a:ext cx="11043248" cy="720082"/>
          </a:xfrm>
          <a:prstGeom prst="rect">
            <a:avLst/>
          </a:prstGeom>
        </p:spPr>
        <p:txBody>
          <a:bodyPr/>
          <a:lstStyle/>
          <a:p>
            <a:r>
              <a:t>Runtime Exception: NullPointerException</a:t>
            </a:r>
          </a:p>
        </p:txBody>
      </p:sp>
      <p:sp>
        <p:nvSpPr>
          <p:cNvPr id="99" name="텍스트 개체 틀 2"/>
          <p:cNvSpPr txBox="1">
            <a:spLocks noGrp="1"/>
          </p:cNvSpPr>
          <p:nvPr>
            <p:ph type="body" sz="quarter" idx="1"/>
          </p:nvPr>
        </p:nvSpPr>
        <p:spPr>
          <a:xfrm>
            <a:off x="551383" y="1124742"/>
            <a:ext cx="11043248" cy="1326358"/>
          </a:xfrm>
          <a:prstGeom prst="rect">
            <a:avLst/>
          </a:prstGeom>
        </p:spPr>
        <p:txBody>
          <a:bodyPr/>
          <a:lstStyle/>
          <a:p>
            <a:r>
              <a:t>Occurs when the dot (.) operator is used on a reference variable without the object it references</a:t>
            </a:r>
          </a:p>
          <a:p>
            <a:r>
              <a:t>ex)</a:t>
            </a:r>
          </a:p>
        </p:txBody>
      </p:sp>
      <p:sp>
        <p:nvSpPr>
          <p:cNvPr id="100" name="슬라이드 번호 개체 틀 3"/>
          <p:cNvSpPr txBox="1">
            <a:spLocks noGrp="1"/>
          </p:cNvSpPr>
          <p:nvPr>
            <p:ph type="sldNum" sz="quarter" idx="2"/>
          </p:nvPr>
        </p:nvSpPr>
        <p:spPr>
          <a:xfrm>
            <a:off x="11942532" y="6443875"/>
            <a:ext cx="180339" cy="24002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9</a:t>
            </a:fld>
            <a:endParaRPr/>
          </a:p>
        </p:txBody>
      </p:sp>
      <p:sp>
        <p:nvSpPr>
          <p:cNvPr id="101" name="TextBox 9"/>
          <p:cNvSpPr txBox="1"/>
          <p:nvPr/>
        </p:nvSpPr>
        <p:spPr>
          <a:xfrm>
            <a:off x="1482599" y="4812661"/>
            <a:ext cx="9862618" cy="901066"/>
          </a:xfrm>
          <a:prstGeom prst="rect">
            <a:avLst/>
          </a:prstGeom>
          <a:ln>
            <a:solidFill>
              <a:srgbClr val="BFBFBF"/>
            </a:solidFill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Exception in thread </a:t>
            </a:r>
            <a:r>
              <a:rPr>
                <a:solidFill>
                  <a:srgbClr val="C41A16"/>
                </a:solidFill>
              </a:rPr>
              <a:t>"main"</a:t>
            </a:r>
            <a:r>
              <a:t> java.lang.</a:t>
            </a:r>
            <a:r>
              <a:rPr b="1"/>
              <a:t>NullPointerException</a:t>
            </a:r>
            <a:r>
              <a:t>: Cannot invoke </a:t>
            </a:r>
            <a:r>
              <a:rPr>
                <a:solidFill>
                  <a:srgbClr val="C41A16"/>
                </a:solidFill>
              </a:rPr>
              <a:t>"String.toString()"</a:t>
            </a:r>
            <a:r>
              <a:t> because </a:t>
            </a:r>
            <a:r>
              <a:rPr>
                <a:solidFill>
                  <a:srgbClr val="C41A16"/>
                </a:solidFill>
              </a:rPr>
              <a:t>"str2"</a:t>
            </a:r>
            <a:r>
              <a:t> is </a:t>
            </a:r>
            <a:r>
              <a:rPr b="1">
                <a:solidFill>
                  <a:srgbClr val="9B2393"/>
                </a:solidFill>
              </a:rPr>
              <a:t>null</a:t>
            </a:r>
          </a:p>
          <a:p>
            <a:pPr>
              <a:defRPr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at NullPointerExceptionDemo.main(NullPointerExceptionDemo.java:</a:t>
            </a:r>
            <a:r>
              <a:rPr>
                <a:solidFill>
                  <a:srgbClr val="1C00CF"/>
                </a:solidFill>
              </a:rPr>
              <a:t>6</a:t>
            </a:r>
            <a:r>
              <a:t>)</a:t>
            </a:r>
          </a:p>
        </p:txBody>
      </p:sp>
      <p:sp>
        <p:nvSpPr>
          <p:cNvPr id="102" name="public class NullPointerExceptionDemo {…"/>
          <p:cNvSpPr txBox="1"/>
          <p:nvPr/>
        </p:nvSpPr>
        <p:spPr>
          <a:xfrm>
            <a:off x="1489993" y="2178368"/>
            <a:ext cx="9847830" cy="2501264"/>
          </a:xfrm>
          <a:prstGeom prst="rect">
            <a:avLst/>
          </a:prstGeom>
          <a:ln>
            <a:solidFill>
              <a:srgbClr val="A7A7A7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 defTabSz="502284">
              <a:tabLst>
                <a:tab pos="495300" algn="l"/>
              </a:tabLst>
              <a:defRPr>
                <a:solidFill>
                  <a:srgbClr val="000000">
                    <a:alpha val="85000"/>
                  </a:srgb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b="1">
                <a:solidFill>
                  <a:srgbClr val="AD3DA4"/>
                </a:solidFill>
              </a:rPr>
              <a:t>public</a:t>
            </a:r>
            <a:r>
              <a:t> </a:t>
            </a:r>
            <a:r>
              <a:rPr b="1">
                <a:solidFill>
                  <a:srgbClr val="AD3DA4"/>
                </a:solidFill>
              </a:rPr>
              <a:t>class</a:t>
            </a:r>
            <a:r>
              <a:t> NullPointerExceptionDemo {</a:t>
            </a:r>
          </a:p>
          <a:p>
            <a:pPr defTabSz="502284">
              <a:tabLst>
                <a:tab pos="495300" algn="l"/>
              </a:tabLst>
              <a:defRPr>
                <a:solidFill>
                  <a:srgbClr val="000000">
                    <a:alpha val="85000"/>
                  </a:srgb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</a:t>
            </a:r>
            <a:r>
              <a:rPr b="1">
                <a:solidFill>
                  <a:srgbClr val="AD3DA4"/>
                </a:solidFill>
              </a:rPr>
              <a:t>public</a:t>
            </a:r>
            <a:r>
              <a:t> </a:t>
            </a:r>
            <a:r>
              <a:rPr b="1">
                <a:solidFill>
                  <a:srgbClr val="AD3DA4"/>
                </a:solidFill>
              </a:rPr>
              <a:t>static</a:t>
            </a:r>
            <a:r>
              <a:t> </a:t>
            </a:r>
            <a:r>
              <a:rPr b="1">
                <a:solidFill>
                  <a:srgbClr val="AD3DA4"/>
                </a:solidFill>
              </a:rPr>
              <a:t>void</a:t>
            </a:r>
            <a:r>
              <a:t> main(String[] args) {</a:t>
            </a:r>
          </a:p>
          <a:p>
            <a:pPr defTabSz="502284">
              <a:tabLst>
                <a:tab pos="495300" algn="l"/>
              </a:tabLst>
              <a:defRPr>
                <a:solidFill>
                  <a:srgbClr val="000000">
                    <a:alpha val="85000"/>
                  </a:srgb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    String str1;</a:t>
            </a:r>
          </a:p>
          <a:p>
            <a:pPr defTabSz="502284">
              <a:tabLst>
                <a:tab pos="495300" algn="l"/>
              </a:tabLst>
              <a:defRPr>
                <a:solidFill>
                  <a:srgbClr val="000000">
                    <a:alpha val="85000"/>
                  </a:srgb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    String str2 = </a:t>
            </a:r>
            <a:r>
              <a:rPr b="1">
                <a:solidFill>
                  <a:srgbClr val="AD3DA4"/>
                </a:solidFill>
              </a:rPr>
              <a:t>null</a:t>
            </a:r>
            <a:r>
              <a:t>;</a:t>
            </a:r>
          </a:p>
          <a:p>
            <a:pPr defTabSz="502284">
              <a:tabLst>
                <a:tab pos="495300" algn="l"/>
              </a:tabLst>
              <a:defRPr>
                <a:solidFill>
                  <a:srgbClr val="2D8504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>
                <a:solidFill>
                  <a:srgbClr val="000000">
                    <a:alpha val="85000"/>
                  </a:srgbClr>
                </a:solidFill>
              </a:rPr>
              <a:t>        </a:t>
            </a:r>
            <a:r>
              <a:t>// System.out.println(str1.toString()); // compile error!!</a:t>
            </a:r>
            <a:endParaRPr>
              <a:solidFill>
                <a:srgbClr val="000000">
                  <a:alpha val="85000"/>
                </a:srgbClr>
              </a:solidFill>
            </a:endParaRPr>
          </a:p>
          <a:p>
            <a:pPr defTabSz="502284">
              <a:tabLst>
                <a:tab pos="495300" algn="l"/>
              </a:tabLst>
              <a:defRPr>
                <a:solidFill>
                  <a:srgbClr val="000000">
                    <a:alpha val="85000"/>
                  </a:srgb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    System.out.println(str2.toString()); </a:t>
            </a:r>
            <a:r>
              <a:rPr>
                <a:solidFill>
                  <a:srgbClr val="2D8504"/>
                </a:solidFill>
              </a:rPr>
              <a:t>// no compile error</a:t>
            </a:r>
          </a:p>
          <a:p>
            <a:pPr defTabSz="502284">
              <a:tabLst>
                <a:tab pos="495300" algn="l"/>
              </a:tabLst>
              <a:defRPr>
                <a:solidFill>
                  <a:srgbClr val="000000">
                    <a:alpha val="85000"/>
                  </a:srgb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                                         </a:t>
            </a:r>
            <a:r>
              <a:rPr>
                <a:solidFill>
                  <a:srgbClr val="2D8504"/>
                </a:solidFill>
              </a:rPr>
              <a:t>// but runtime exception</a:t>
            </a:r>
          </a:p>
          <a:p>
            <a:pPr defTabSz="502284">
              <a:tabLst>
                <a:tab pos="495300" algn="l"/>
              </a:tabLst>
              <a:defRPr>
                <a:solidFill>
                  <a:srgbClr val="000000">
                    <a:alpha val="85000"/>
                  </a:srgb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}</a:t>
            </a:r>
          </a:p>
          <a:p>
            <a:pPr defTabSz="502284">
              <a:tabLst>
                <a:tab pos="495300" algn="l"/>
              </a:tabLst>
              <a:defRPr>
                <a:solidFill>
                  <a:srgbClr val="000000">
                    <a:alpha val="85000"/>
                  </a:srgb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}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9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0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1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1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1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1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" fill="hold"/>
                                        <p:tgtEl>
                                          <p:spTgt spid="1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1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1" fill="hold"/>
                                        <p:tgtEl>
                                          <p:spTgt spid="10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4" fill="hold"/>
                                        <p:tgtEl>
                                          <p:spTgt spid="10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8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1" build="p" bldLvl="5" animBg="1" advAuto="0"/>
      <p:bldP spid="101" grpId="3" animBg="1" advAuto="0"/>
      <p:bldP spid="102" grpId="2" build="p" bldLvl="5" animBg="1" advAuto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제목 1"/>
          <p:cNvSpPr txBox="1">
            <a:spLocks noGrp="1"/>
          </p:cNvSpPr>
          <p:nvPr>
            <p:ph type="title"/>
          </p:nvPr>
        </p:nvSpPr>
        <p:spPr>
          <a:xfrm>
            <a:off x="551383" y="260647"/>
            <a:ext cx="11043248" cy="72008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</a:lstStyle>
          <a:p>
            <a:r>
              <a:t>Runtime Exception: ArrayIndexOutOfBoundsException</a:t>
            </a:r>
          </a:p>
        </p:txBody>
      </p:sp>
      <p:sp>
        <p:nvSpPr>
          <p:cNvPr id="107" name="텍스트 개체 틀 2"/>
          <p:cNvSpPr txBox="1">
            <a:spLocks noGrp="1"/>
          </p:cNvSpPr>
          <p:nvPr>
            <p:ph type="body" sz="quarter" idx="1"/>
          </p:nvPr>
        </p:nvSpPr>
        <p:spPr>
          <a:xfrm>
            <a:off x="551383" y="1124742"/>
            <a:ext cx="11043248" cy="488158"/>
          </a:xfrm>
          <a:prstGeom prst="rect">
            <a:avLst/>
          </a:prstGeom>
        </p:spPr>
        <p:txBody>
          <a:bodyPr/>
          <a:lstStyle/>
          <a:p>
            <a:r>
              <a:t>Occurs when the index range is exceeded in the array</a:t>
            </a:r>
          </a:p>
        </p:txBody>
      </p:sp>
      <p:sp>
        <p:nvSpPr>
          <p:cNvPr id="108" name="슬라이드 번호 개체 틀 3"/>
          <p:cNvSpPr txBox="1">
            <a:spLocks noGrp="1"/>
          </p:cNvSpPr>
          <p:nvPr>
            <p:ph type="sldNum" sz="quarter" idx="2"/>
          </p:nvPr>
        </p:nvSpPr>
        <p:spPr>
          <a:xfrm>
            <a:off x="11866332" y="6443875"/>
            <a:ext cx="256539" cy="24002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10</a:t>
            </a:fld>
            <a:endParaRPr/>
          </a:p>
        </p:txBody>
      </p:sp>
      <p:sp>
        <p:nvSpPr>
          <p:cNvPr id="109" name="TextBox 7"/>
          <p:cNvSpPr txBox="1"/>
          <p:nvPr/>
        </p:nvSpPr>
        <p:spPr>
          <a:xfrm>
            <a:off x="735595" y="3864028"/>
            <a:ext cx="10363201" cy="824866"/>
          </a:xfrm>
          <a:prstGeom prst="rect">
            <a:avLst/>
          </a:prstGeom>
          <a:ln>
            <a:solidFill>
              <a:srgbClr val="BFBFBF"/>
            </a:solidFill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6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Exception in thread </a:t>
            </a:r>
            <a:r>
              <a:rPr>
                <a:solidFill>
                  <a:srgbClr val="C41A16"/>
                </a:solidFill>
              </a:rPr>
              <a:t>"main"</a:t>
            </a:r>
            <a:r>
              <a:t> java.lang.ArrayIndexOutOfBoundsException: </a:t>
            </a:r>
            <a:endParaRPr>
              <a:latin typeface="나눔스퀘어OTF Regular"/>
              <a:ea typeface="나눔스퀘어OTF Regular"/>
              <a:cs typeface="나눔스퀘어OTF Regular"/>
              <a:sym typeface="나눔스퀘어OTF Regular"/>
            </a:endParaRPr>
          </a:p>
          <a:p>
            <a:pPr>
              <a:defRPr sz="16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Index </a:t>
            </a:r>
            <a:r>
              <a:rPr>
                <a:solidFill>
                  <a:srgbClr val="1C00CF"/>
                </a:solidFill>
              </a:rPr>
              <a:t>3</a:t>
            </a:r>
            <a:r>
              <a:t> out of bounds </a:t>
            </a:r>
            <a:r>
              <a:rPr b="1">
                <a:solidFill>
                  <a:srgbClr val="9B2393"/>
                </a:solidFill>
              </a:rPr>
              <a:t>for</a:t>
            </a:r>
            <a:r>
              <a:t> length </a:t>
            </a:r>
            <a:r>
              <a:rPr>
                <a:solidFill>
                  <a:srgbClr val="1C00CF"/>
                </a:solidFill>
              </a:rPr>
              <a:t>3</a:t>
            </a:r>
            <a:r>
              <a:t> at ArrayIndexOutOfBoundsExceptionDemo.main(ArrayIndexOutOfBoundsExceptionDemo.java:</a:t>
            </a:r>
            <a:r>
              <a:rPr>
                <a:solidFill>
                  <a:srgbClr val="1C00CF"/>
                </a:solidFill>
              </a:rPr>
              <a:t>5</a:t>
            </a:r>
            <a:r>
              <a:t>)</a:t>
            </a:r>
          </a:p>
        </p:txBody>
      </p:sp>
      <p:sp>
        <p:nvSpPr>
          <p:cNvPr id="110" name="public class ArrayIndexOutOfBoundsExceptionDemo {…"/>
          <p:cNvSpPr txBox="1"/>
          <p:nvPr/>
        </p:nvSpPr>
        <p:spPr>
          <a:xfrm>
            <a:off x="772817" y="1752151"/>
            <a:ext cx="6857475" cy="1967864"/>
          </a:xfrm>
          <a:prstGeom prst="rect">
            <a:avLst/>
          </a:prstGeom>
          <a:ln>
            <a:solidFill>
              <a:srgbClr val="BFBFBF"/>
            </a:solidFill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8" tIns="45718" rIns="45718" bIns="45718" anchor="ctr">
            <a:spAutoFit/>
          </a:bodyPr>
          <a:lstStyle/>
          <a:p>
            <a:pPr defTabSz="502284">
              <a:tabLst>
                <a:tab pos="495300" algn="l"/>
              </a:tabLst>
              <a:defRPr>
                <a:solidFill>
                  <a:srgbClr val="000000">
                    <a:alpha val="85000"/>
                  </a:srgb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b="1">
                <a:solidFill>
                  <a:srgbClr val="AD3DA4"/>
                </a:solidFill>
              </a:rPr>
              <a:t>public</a:t>
            </a:r>
            <a:r>
              <a:t> </a:t>
            </a:r>
            <a:r>
              <a:rPr b="1">
                <a:solidFill>
                  <a:srgbClr val="AD3DA4"/>
                </a:solidFill>
              </a:rPr>
              <a:t>class</a:t>
            </a:r>
            <a:r>
              <a:t> ArrayIndexOutOfBoundsExceptionDemo {</a:t>
            </a:r>
          </a:p>
          <a:p>
            <a:pPr defTabSz="502284">
              <a:tabLst>
                <a:tab pos="495300" algn="l"/>
              </a:tabLst>
              <a:defRPr>
                <a:solidFill>
                  <a:srgbClr val="000000">
                    <a:alpha val="85000"/>
                  </a:srgb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</a:t>
            </a:r>
            <a:r>
              <a:rPr b="1">
                <a:solidFill>
                  <a:srgbClr val="AD3DA4"/>
                </a:solidFill>
              </a:rPr>
              <a:t>public</a:t>
            </a:r>
            <a:r>
              <a:t> </a:t>
            </a:r>
            <a:r>
              <a:rPr b="1">
                <a:solidFill>
                  <a:srgbClr val="AD3DA4"/>
                </a:solidFill>
              </a:rPr>
              <a:t>static</a:t>
            </a:r>
            <a:r>
              <a:t> </a:t>
            </a:r>
            <a:r>
              <a:rPr b="1">
                <a:solidFill>
                  <a:srgbClr val="AD3DA4"/>
                </a:solidFill>
              </a:rPr>
              <a:t>void</a:t>
            </a:r>
            <a:r>
              <a:t> main(String[] args) {</a:t>
            </a:r>
          </a:p>
          <a:p>
            <a:pPr defTabSz="502284">
              <a:tabLst>
                <a:tab pos="495300" algn="l"/>
              </a:tabLst>
              <a:defRPr>
                <a:solidFill>
                  <a:srgbClr val="000000">
                    <a:alpha val="85000"/>
                  </a:srgb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    String[] strArray = </a:t>
            </a:r>
            <a:r>
              <a:rPr b="1">
                <a:solidFill>
                  <a:srgbClr val="AD3DA4"/>
                </a:solidFill>
              </a:rPr>
              <a:t>new</a:t>
            </a:r>
            <a:r>
              <a:t> String[</a:t>
            </a:r>
            <a:r>
              <a:rPr>
                <a:solidFill>
                  <a:srgbClr val="272AD8"/>
                </a:solidFill>
              </a:rPr>
              <a:t>3</a:t>
            </a:r>
            <a:r>
              <a:t>];</a:t>
            </a:r>
          </a:p>
          <a:p>
            <a:pPr defTabSz="502284">
              <a:tabLst>
                <a:tab pos="495300" algn="l"/>
              </a:tabLst>
              <a:defRPr>
                <a:solidFill>
                  <a:srgbClr val="000000">
                    <a:alpha val="85000"/>
                  </a:srgb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    strArray[</a:t>
            </a:r>
            <a:r>
              <a:rPr>
                <a:solidFill>
                  <a:srgbClr val="272AD8"/>
                </a:solidFill>
              </a:rPr>
              <a:t>0</a:t>
            </a:r>
            <a:r>
              <a:t>] = </a:t>
            </a:r>
            <a:r>
              <a:rPr>
                <a:solidFill>
                  <a:srgbClr val="D12F1B"/>
                </a:solidFill>
              </a:rPr>
              <a:t>"Korea"</a:t>
            </a:r>
            <a:r>
              <a:t>;</a:t>
            </a:r>
          </a:p>
          <a:p>
            <a:pPr defTabSz="502284">
              <a:tabLst>
                <a:tab pos="495300" algn="l"/>
              </a:tabLst>
              <a:defRPr>
                <a:solidFill>
                  <a:srgbClr val="000000">
                    <a:alpha val="85000"/>
                  </a:srgb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    strArray[</a:t>
            </a:r>
            <a:r>
              <a:rPr>
                <a:solidFill>
                  <a:srgbClr val="272AD8"/>
                </a:solidFill>
              </a:rPr>
              <a:t>3</a:t>
            </a:r>
            <a:r>
              <a:t>] = </a:t>
            </a:r>
            <a:r>
              <a:rPr>
                <a:solidFill>
                  <a:srgbClr val="D12F1B"/>
                </a:solidFill>
              </a:rPr>
              <a:t>"Seoul"</a:t>
            </a:r>
            <a:r>
              <a:t>;</a:t>
            </a:r>
          </a:p>
          <a:p>
            <a:pPr defTabSz="502284">
              <a:tabLst>
                <a:tab pos="495300" algn="l"/>
              </a:tabLst>
              <a:defRPr>
                <a:solidFill>
                  <a:srgbClr val="000000">
                    <a:alpha val="85000"/>
                  </a:srgb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}</a:t>
            </a:r>
          </a:p>
          <a:p>
            <a:pPr defTabSz="502284">
              <a:tabLst>
                <a:tab pos="495300" algn="l"/>
              </a:tabLst>
              <a:defRPr>
                <a:solidFill>
                  <a:srgbClr val="000000">
                    <a:alpha val="85000"/>
                  </a:srgb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}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1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1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1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1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9" fill="hold"/>
                                        <p:tgtEl>
                                          <p:spTgt spid="1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" grpId="2" animBg="1" advAuto="0"/>
      <p:bldP spid="110" grpId="1" build="p" bldLvl="5" animBg="1" advAuto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제목 1"/>
          <p:cNvSpPr txBox="1">
            <a:spLocks noGrp="1"/>
          </p:cNvSpPr>
          <p:nvPr>
            <p:ph type="title"/>
          </p:nvPr>
        </p:nvSpPr>
        <p:spPr>
          <a:xfrm>
            <a:off x="551383" y="260647"/>
            <a:ext cx="11043248" cy="720082"/>
          </a:xfrm>
          <a:prstGeom prst="rect">
            <a:avLst/>
          </a:prstGeom>
        </p:spPr>
        <p:txBody>
          <a:bodyPr/>
          <a:lstStyle/>
          <a:p>
            <a:r>
              <a:t>Runtime Exception: NumberFormatException</a:t>
            </a:r>
          </a:p>
        </p:txBody>
      </p:sp>
      <p:sp>
        <p:nvSpPr>
          <p:cNvPr id="115" name="텍스트 개체 틀 2"/>
          <p:cNvSpPr txBox="1">
            <a:spLocks noGrp="1"/>
          </p:cNvSpPr>
          <p:nvPr>
            <p:ph type="body" idx="1"/>
          </p:nvPr>
        </p:nvSpPr>
        <p:spPr>
          <a:xfrm>
            <a:off x="551383" y="1124741"/>
            <a:ext cx="11043248" cy="5400604"/>
          </a:xfrm>
          <a:prstGeom prst="rect">
            <a:avLst/>
          </a:prstGeom>
        </p:spPr>
        <p:txBody>
          <a:bodyPr/>
          <a:lstStyle/>
          <a:p>
            <a:r>
              <a:t>Occurs when trying to convert a string into a numeric type data, such as int or double, and the string cannot be converted to a number (e.g. "23asdf", "?%^*", ...)</a:t>
            </a:r>
          </a:p>
        </p:txBody>
      </p:sp>
      <p:sp>
        <p:nvSpPr>
          <p:cNvPr id="116" name="슬라이드 번호 개체 틀 3"/>
          <p:cNvSpPr txBox="1">
            <a:spLocks noGrp="1"/>
          </p:cNvSpPr>
          <p:nvPr>
            <p:ph type="sldNum" sz="quarter" idx="2"/>
          </p:nvPr>
        </p:nvSpPr>
        <p:spPr>
          <a:xfrm>
            <a:off x="11866332" y="6443875"/>
            <a:ext cx="256539" cy="24002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11</a:t>
            </a:fld>
            <a:endParaRPr/>
          </a:p>
        </p:txBody>
      </p:sp>
      <p:sp>
        <p:nvSpPr>
          <p:cNvPr id="117" name="TextBox 5"/>
          <p:cNvSpPr txBox="1"/>
          <p:nvPr/>
        </p:nvSpPr>
        <p:spPr>
          <a:xfrm>
            <a:off x="736600" y="2524992"/>
            <a:ext cx="10680700" cy="3288666"/>
          </a:xfrm>
          <a:prstGeom prst="rect">
            <a:avLst/>
          </a:prstGeom>
          <a:ln>
            <a:solidFill>
              <a:srgbClr val="BFBFBF"/>
            </a:solidFill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600" b="1">
                <a:solidFill>
                  <a:srgbClr val="9B2393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public</a:t>
            </a:r>
            <a:r>
              <a:rPr b="0">
                <a:solidFill>
                  <a:srgbClr val="000000"/>
                </a:solidFill>
              </a:rPr>
              <a:t> </a:t>
            </a:r>
            <a:r>
              <a:t>class</a:t>
            </a:r>
            <a:r>
              <a:rPr b="0">
                <a:solidFill>
                  <a:srgbClr val="000000"/>
                </a:solidFill>
              </a:rPr>
              <a:t> NumberFormatExceptionDemo {</a:t>
            </a:r>
            <a:endParaRPr b="0">
              <a:latin typeface="나눔스퀘어OTF Bold"/>
              <a:ea typeface="나눔스퀘어OTF Bold"/>
              <a:cs typeface="나눔스퀘어OTF Bold"/>
              <a:sym typeface="나눔스퀘어OTF Bold"/>
            </a:endParaRPr>
          </a:p>
          <a:p>
            <a:pPr>
              <a:defRPr sz="16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</a:t>
            </a:r>
            <a:r>
              <a:rPr b="1">
                <a:solidFill>
                  <a:srgbClr val="9B2393"/>
                </a:solidFill>
              </a:rPr>
              <a:t>public</a:t>
            </a:r>
            <a:r>
              <a:t> </a:t>
            </a:r>
            <a:r>
              <a:rPr b="1">
                <a:solidFill>
                  <a:srgbClr val="9B2393"/>
                </a:solidFill>
              </a:rPr>
              <a:t>static</a:t>
            </a:r>
            <a:r>
              <a:t> </a:t>
            </a:r>
            <a:r>
              <a:rPr b="1">
                <a:solidFill>
                  <a:srgbClr val="9B2393"/>
                </a:solidFill>
              </a:rPr>
              <a:t>void</a:t>
            </a:r>
            <a:r>
              <a:t> main(String[] args) {</a:t>
            </a:r>
            <a:endParaRPr>
              <a:latin typeface="나눔스퀘어OTF Regular"/>
              <a:ea typeface="나눔스퀘어OTF Regular"/>
              <a:cs typeface="나눔스퀘어OTF Regular"/>
              <a:sym typeface="나눔스퀘어OTF Regular"/>
            </a:endParaRPr>
          </a:p>
          <a:p>
            <a:pPr>
              <a:defRPr sz="16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    String str1 = </a:t>
            </a:r>
            <a:r>
              <a:rPr>
                <a:solidFill>
                  <a:srgbClr val="C41A16"/>
                </a:solidFill>
              </a:rPr>
              <a:t>"132.68"</a:t>
            </a:r>
            <a:r>
              <a:t>;</a:t>
            </a:r>
            <a:endParaRPr>
              <a:latin typeface="나눔스퀘어OTF Regular"/>
              <a:ea typeface="나눔스퀘어OTF Regular"/>
              <a:cs typeface="나눔스퀘어OTF Regular"/>
              <a:sym typeface="나눔스퀘어OTF Regular"/>
            </a:endParaRPr>
          </a:p>
          <a:p>
            <a:pPr>
              <a:defRPr sz="16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    String str2 = </a:t>
            </a:r>
            <a:r>
              <a:rPr>
                <a:solidFill>
                  <a:srgbClr val="C41A16"/>
                </a:solidFill>
              </a:rPr>
              <a:t>"abcde"</a:t>
            </a:r>
            <a:r>
              <a:t>;</a:t>
            </a:r>
            <a:endParaRPr>
              <a:latin typeface="나눔스퀘어OTF Regular"/>
              <a:ea typeface="나눔스퀘어OTF Regular"/>
              <a:cs typeface="나눔스퀘어OTF Regular"/>
              <a:sym typeface="나눔스퀘어OTF Regular"/>
            </a:endParaRPr>
          </a:p>
          <a:p>
            <a:pPr>
              <a:defRPr sz="16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    </a:t>
            </a:r>
            <a:r>
              <a:rPr b="1">
                <a:solidFill>
                  <a:srgbClr val="9B2393"/>
                </a:solidFill>
              </a:rPr>
              <a:t>int</a:t>
            </a:r>
            <a:r>
              <a:t> num1 = Integer.parseInt(str1);</a:t>
            </a:r>
            <a:endParaRPr>
              <a:latin typeface="나눔스퀘어OTF Regular"/>
              <a:ea typeface="나눔스퀘어OTF Regular"/>
              <a:cs typeface="나눔스퀘어OTF Regular"/>
              <a:sym typeface="나눔스퀘어OTF Regular"/>
            </a:endParaRPr>
          </a:p>
          <a:p>
            <a:pPr>
              <a:defRPr sz="16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    </a:t>
            </a:r>
            <a:r>
              <a:rPr b="1">
                <a:solidFill>
                  <a:srgbClr val="9B2393"/>
                </a:solidFill>
              </a:rPr>
              <a:t>double</a:t>
            </a:r>
            <a:r>
              <a:t> num2 = Double.parseDouble(str2);</a:t>
            </a:r>
            <a:endParaRPr>
              <a:latin typeface="나눔스퀘어OTF Regular"/>
              <a:ea typeface="나눔스퀘어OTF Regular"/>
              <a:cs typeface="나눔스퀘어OTF Regular"/>
              <a:sym typeface="나눔스퀘어OTF Regular"/>
            </a:endParaRPr>
          </a:p>
          <a:p>
            <a:pPr>
              <a:defRPr sz="16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}</a:t>
            </a:r>
            <a:endParaRPr>
              <a:latin typeface="나눔스퀘어OTF Regular"/>
              <a:ea typeface="나눔스퀘어OTF Regular"/>
              <a:cs typeface="나눔스퀘어OTF Regular"/>
              <a:sym typeface="나눔스퀘어OTF Regular"/>
            </a:endParaRPr>
          </a:p>
          <a:p>
            <a:pPr>
              <a:defRPr sz="16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}</a:t>
            </a:r>
            <a:endParaRPr>
              <a:latin typeface="나눔스퀘어OTF Regular"/>
              <a:ea typeface="나눔스퀘어OTF Regular"/>
              <a:cs typeface="나눔스퀘어OTF Regular"/>
              <a:sym typeface="나눔스퀘어OTF Regular"/>
            </a:endParaRPr>
          </a:p>
          <a:p>
            <a:pPr>
              <a:defRPr sz="1600">
                <a:latin typeface="Menlo Regular"/>
                <a:ea typeface="Menlo Regular"/>
                <a:cs typeface="Menlo Regular"/>
                <a:sym typeface="Menlo Regular"/>
              </a:defRPr>
            </a:pPr>
            <a:endParaRPr>
              <a:latin typeface="나눔스퀘어OTF Regular"/>
              <a:ea typeface="나눔스퀘어OTF Regular"/>
              <a:cs typeface="나눔스퀘어OTF Regular"/>
              <a:sym typeface="나눔스퀘어OTF Regular"/>
            </a:endParaRPr>
          </a:p>
          <a:p>
            <a:pPr>
              <a:defRPr sz="14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Exception in thread </a:t>
            </a:r>
            <a:r>
              <a:rPr>
                <a:solidFill>
                  <a:srgbClr val="C41A16"/>
                </a:solidFill>
              </a:rPr>
              <a:t>"main"</a:t>
            </a:r>
            <a:r>
              <a:t> java.lang.NumberFormatException: For input string: </a:t>
            </a:r>
            <a:r>
              <a:rPr>
                <a:solidFill>
                  <a:srgbClr val="C41A16"/>
                </a:solidFill>
              </a:rPr>
              <a:t>"132.68"</a:t>
            </a:r>
          </a:p>
          <a:p>
            <a:pPr>
              <a:defRPr sz="14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at java.base/java.lang.NumberFormatException.forInputString(NumberFormatException.java:</a:t>
            </a:r>
            <a:r>
              <a:rPr>
                <a:solidFill>
                  <a:srgbClr val="1C00CF"/>
                </a:solidFill>
              </a:rPr>
              <a:t>67</a:t>
            </a:r>
            <a:r>
              <a:t>)</a:t>
            </a:r>
            <a:endParaRPr>
              <a:latin typeface="나눔스퀘어OTF Regular"/>
              <a:ea typeface="나눔스퀘어OTF Regular"/>
              <a:cs typeface="나눔스퀘어OTF Regular"/>
              <a:sym typeface="나눔스퀘어OTF Regular"/>
            </a:endParaRPr>
          </a:p>
          <a:p>
            <a:pPr>
              <a:defRPr sz="14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at java.base/java.lang.Integer.parseInt(Integer.java:</a:t>
            </a:r>
            <a:r>
              <a:rPr>
                <a:solidFill>
                  <a:srgbClr val="1C00CF"/>
                </a:solidFill>
              </a:rPr>
              <a:t>588</a:t>
            </a:r>
            <a:r>
              <a:t>)</a:t>
            </a:r>
            <a:endParaRPr>
              <a:latin typeface="나눔스퀘어OTF Regular"/>
              <a:ea typeface="나눔스퀘어OTF Regular"/>
              <a:cs typeface="나눔스퀘어OTF Regular"/>
              <a:sym typeface="나눔스퀘어OTF Regular"/>
            </a:endParaRPr>
          </a:p>
          <a:p>
            <a:pPr>
              <a:defRPr sz="14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at java.base/java.lang.Integer.parseInt(Integer.java:</a:t>
            </a:r>
            <a:r>
              <a:rPr>
                <a:solidFill>
                  <a:srgbClr val="1C00CF"/>
                </a:solidFill>
              </a:rPr>
              <a:t>685</a:t>
            </a:r>
            <a:r>
              <a:t>)</a:t>
            </a:r>
            <a:endParaRPr>
              <a:latin typeface="나눔스퀘어OTF Regular"/>
              <a:ea typeface="나눔스퀘어OTF Regular"/>
              <a:cs typeface="나눔스퀘어OTF Regular"/>
              <a:sym typeface="나눔스퀘어OTF Regular"/>
            </a:endParaRPr>
          </a:p>
          <a:p>
            <a:pPr>
              <a:defRPr sz="14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at NumberFormatExceptionDemo.main(NumberFormatExceptionDemo.java:</a:t>
            </a:r>
            <a:r>
              <a:rPr>
                <a:solidFill>
                  <a:srgbClr val="1C00CF"/>
                </a:solidFill>
              </a:rPr>
              <a:t>5</a:t>
            </a:r>
            <a:r>
              <a:t>)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1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1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1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1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1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" fill="hold"/>
                                        <p:tgtEl>
                                          <p:spTgt spid="1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1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fill="hold"/>
                                        <p:tgtEl>
                                          <p:spTgt spid="11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3" fill="hold"/>
                                        <p:tgtEl>
                                          <p:spTgt spid="11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11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9" fill="hold"/>
                                        <p:tgtEl>
                                          <p:spTgt spid="11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2" fill="hold"/>
                                        <p:tgtEl>
                                          <p:spTgt spid="11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" grpId="1" build="p" bldLvl="5" animBg="1" advAuto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제목 1"/>
          <p:cNvSpPr txBox="1">
            <a:spLocks noGrp="1"/>
          </p:cNvSpPr>
          <p:nvPr>
            <p:ph type="title"/>
          </p:nvPr>
        </p:nvSpPr>
        <p:spPr>
          <a:xfrm>
            <a:off x="551383" y="260647"/>
            <a:ext cx="11043248" cy="720082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</a:lstStyle>
          <a:p>
            <a:r>
              <a:t>Runtime Exception: InputMismatchException</a:t>
            </a:r>
          </a:p>
        </p:txBody>
      </p:sp>
      <p:sp>
        <p:nvSpPr>
          <p:cNvPr id="122" name="슬라이드 번호 개체 틀 3"/>
          <p:cNvSpPr txBox="1">
            <a:spLocks noGrp="1"/>
          </p:cNvSpPr>
          <p:nvPr>
            <p:ph type="sldNum" sz="quarter" idx="2"/>
          </p:nvPr>
        </p:nvSpPr>
        <p:spPr>
          <a:xfrm>
            <a:off x="11866332" y="6443875"/>
            <a:ext cx="256539" cy="24002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12</a:t>
            </a:fld>
            <a:endParaRPr/>
          </a:p>
        </p:txBody>
      </p:sp>
      <p:sp>
        <p:nvSpPr>
          <p:cNvPr id="123" name="import java.util.InputMismatchException;…"/>
          <p:cNvSpPr txBox="1"/>
          <p:nvPr/>
        </p:nvSpPr>
        <p:spPr>
          <a:xfrm>
            <a:off x="598582" y="1051814"/>
            <a:ext cx="10775453" cy="2996564"/>
          </a:xfrm>
          <a:prstGeom prst="rect">
            <a:avLst/>
          </a:prstGeom>
          <a:ln>
            <a:solidFill>
              <a:srgbClr val="BFBFBF"/>
            </a:solidFill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 defTabSz="502284">
              <a:tabLst>
                <a:tab pos="495300" algn="l"/>
              </a:tabLst>
              <a:defRPr sz="1600">
                <a:solidFill>
                  <a:srgbClr val="000000">
                    <a:alpha val="85000"/>
                  </a:srgb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b="1">
                <a:solidFill>
                  <a:srgbClr val="AD3DA4"/>
                </a:solidFill>
              </a:rPr>
              <a:t>import</a:t>
            </a:r>
            <a:r>
              <a:t> java.util.InputMismatchException;</a:t>
            </a:r>
          </a:p>
          <a:p>
            <a:pPr defTabSz="502284">
              <a:tabLst>
                <a:tab pos="495300" algn="l"/>
              </a:tabLst>
              <a:defRPr sz="1600">
                <a:solidFill>
                  <a:srgbClr val="000000">
                    <a:alpha val="85000"/>
                  </a:srgb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b="1">
                <a:solidFill>
                  <a:srgbClr val="AD3DA4"/>
                </a:solidFill>
              </a:rPr>
              <a:t>import</a:t>
            </a:r>
            <a:r>
              <a:t> java.util.Scanner;</a:t>
            </a:r>
          </a:p>
          <a:p>
            <a:pPr defTabSz="502284">
              <a:tabLst>
                <a:tab pos="495300" algn="l"/>
              </a:tabLst>
              <a:defRPr sz="1600">
                <a:solidFill>
                  <a:srgbClr val="000000">
                    <a:alpha val="85000"/>
                  </a:srgb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endParaRPr/>
          </a:p>
          <a:p>
            <a:pPr defTabSz="502284">
              <a:tabLst>
                <a:tab pos="495300" algn="l"/>
              </a:tabLst>
              <a:defRPr sz="1600">
                <a:solidFill>
                  <a:srgbClr val="000000">
                    <a:alpha val="85000"/>
                  </a:srgb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b="1">
                <a:solidFill>
                  <a:srgbClr val="AD3DA4"/>
                </a:solidFill>
              </a:rPr>
              <a:t>public</a:t>
            </a:r>
            <a:r>
              <a:t> </a:t>
            </a:r>
            <a:r>
              <a:rPr b="1">
                <a:solidFill>
                  <a:srgbClr val="AD3DA4"/>
                </a:solidFill>
              </a:rPr>
              <a:t>class</a:t>
            </a:r>
            <a:r>
              <a:t> InputMismatchExceptionExample {</a:t>
            </a:r>
          </a:p>
          <a:p>
            <a:pPr defTabSz="502284">
              <a:tabLst>
                <a:tab pos="495300" algn="l"/>
              </a:tabLst>
              <a:defRPr sz="1600">
                <a:solidFill>
                  <a:srgbClr val="000000">
                    <a:alpha val="85000"/>
                  </a:srgb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</a:t>
            </a:r>
            <a:r>
              <a:rPr b="1">
                <a:solidFill>
                  <a:srgbClr val="AD3DA4"/>
                </a:solidFill>
              </a:rPr>
              <a:t>public</a:t>
            </a:r>
            <a:r>
              <a:t> </a:t>
            </a:r>
            <a:r>
              <a:rPr b="1">
                <a:solidFill>
                  <a:srgbClr val="AD3DA4"/>
                </a:solidFill>
              </a:rPr>
              <a:t>static</a:t>
            </a:r>
            <a:r>
              <a:t> </a:t>
            </a:r>
            <a:r>
              <a:rPr b="1">
                <a:solidFill>
                  <a:srgbClr val="AD3DA4"/>
                </a:solidFill>
              </a:rPr>
              <a:t>void</a:t>
            </a:r>
            <a:r>
              <a:t> main(String[] args) {</a:t>
            </a:r>
          </a:p>
          <a:p>
            <a:pPr defTabSz="502284">
              <a:tabLst>
                <a:tab pos="495300" algn="l"/>
              </a:tabLst>
              <a:defRPr sz="1600">
                <a:solidFill>
                  <a:srgbClr val="000000">
                    <a:alpha val="85000"/>
                  </a:srgb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    Scanner scanner = </a:t>
            </a:r>
            <a:r>
              <a:rPr b="1">
                <a:solidFill>
                  <a:srgbClr val="AD3DA4"/>
                </a:solidFill>
              </a:rPr>
              <a:t>new</a:t>
            </a:r>
            <a:r>
              <a:t> Scanner(System.in);</a:t>
            </a:r>
          </a:p>
          <a:p>
            <a:pPr defTabSz="502284">
              <a:tabLst>
                <a:tab pos="495300" algn="l"/>
              </a:tabLst>
              <a:defRPr sz="1600">
                <a:solidFill>
                  <a:srgbClr val="000000">
                    <a:alpha val="85000"/>
                  </a:srgb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    System.out.print(</a:t>
            </a:r>
            <a:r>
              <a:rPr>
                <a:solidFill>
                  <a:srgbClr val="D12F1B"/>
                </a:solidFill>
              </a:rPr>
              <a:t>"Input an integer: "</a:t>
            </a:r>
            <a:r>
              <a:t>);</a:t>
            </a:r>
          </a:p>
          <a:p>
            <a:pPr defTabSz="502284">
              <a:tabLst>
                <a:tab pos="495300" algn="l"/>
              </a:tabLst>
              <a:defRPr sz="1600">
                <a:solidFill>
                  <a:srgbClr val="000000">
                    <a:alpha val="85000"/>
                  </a:srgb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    </a:t>
            </a:r>
            <a:r>
              <a:rPr b="1">
                <a:solidFill>
                  <a:srgbClr val="AD3DA4"/>
                </a:solidFill>
              </a:rPr>
              <a:t>int</a:t>
            </a:r>
            <a:r>
              <a:t> number = scanner.nextInt();  </a:t>
            </a:r>
            <a:r>
              <a:rPr>
                <a:solidFill>
                  <a:srgbClr val="2D8504"/>
                </a:solidFill>
              </a:rPr>
              <a:t>// assume input "abcd"</a:t>
            </a:r>
          </a:p>
          <a:p>
            <a:pPr defTabSz="502284">
              <a:tabLst>
                <a:tab pos="495300" algn="l"/>
              </a:tabLst>
              <a:defRPr sz="1600">
                <a:solidFill>
                  <a:srgbClr val="000000">
                    <a:alpha val="85000"/>
                  </a:srgb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    System.out.println(</a:t>
            </a:r>
            <a:r>
              <a:rPr>
                <a:solidFill>
                  <a:srgbClr val="D12F1B"/>
                </a:solidFill>
              </a:rPr>
              <a:t>"Input Integer: "</a:t>
            </a:r>
            <a:r>
              <a:t> + number);</a:t>
            </a:r>
          </a:p>
          <a:p>
            <a:pPr defTabSz="502284">
              <a:tabLst>
                <a:tab pos="495300" algn="l"/>
              </a:tabLst>
              <a:defRPr sz="1600">
                <a:solidFill>
                  <a:srgbClr val="000000">
                    <a:alpha val="85000"/>
                  </a:srgb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    scanner.close();</a:t>
            </a:r>
          </a:p>
          <a:p>
            <a:pPr defTabSz="502284">
              <a:tabLst>
                <a:tab pos="495300" algn="l"/>
              </a:tabLst>
              <a:defRPr sz="1600">
                <a:solidFill>
                  <a:srgbClr val="000000">
                    <a:alpha val="85000"/>
                  </a:srgb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}</a:t>
            </a:r>
          </a:p>
          <a:p>
            <a:pPr defTabSz="502284">
              <a:tabLst>
                <a:tab pos="495300" algn="l"/>
              </a:tabLst>
              <a:defRPr sz="1600">
                <a:solidFill>
                  <a:srgbClr val="000000">
                    <a:alpha val="85000"/>
                  </a:srgb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}</a:t>
            </a:r>
          </a:p>
        </p:txBody>
      </p:sp>
      <p:sp>
        <p:nvSpPr>
          <p:cNvPr id="124" name="Input an integer: abcd…"/>
          <p:cNvSpPr txBox="1"/>
          <p:nvPr/>
        </p:nvSpPr>
        <p:spPr>
          <a:xfrm>
            <a:off x="572353" y="4159151"/>
            <a:ext cx="10827910" cy="1790064"/>
          </a:xfrm>
          <a:prstGeom prst="rect">
            <a:avLst/>
          </a:prstGeom>
          <a:ln>
            <a:solidFill>
              <a:srgbClr val="A7A7A7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>
              <a:defRPr sz="1600">
                <a:solidFill>
                  <a:schemeClr val="accent6">
                    <a:satOff val="-35873"/>
                    <a:lumOff val="-12431"/>
                  </a:scheme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Input an integer: abcd</a:t>
            </a:r>
          </a:p>
          <a:p>
            <a:pPr>
              <a:defRPr sz="1600">
                <a:solidFill>
                  <a:schemeClr val="accent6">
                    <a:satOff val="-35873"/>
                    <a:lumOff val="-12431"/>
                  </a:scheme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Exception in thread "main" java.util.InputMismatchException</a:t>
            </a:r>
          </a:p>
          <a:p>
            <a:pPr>
              <a:defRPr sz="1600">
                <a:solidFill>
                  <a:schemeClr val="accent6">
                    <a:satOff val="-35873"/>
                    <a:lumOff val="-12431"/>
                  </a:scheme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	at java.base/java.util.Scanner.throwFor(Scanner.java:964)</a:t>
            </a:r>
          </a:p>
          <a:p>
            <a:pPr>
              <a:defRPr sz="1600">
                <a:solidFill>
                  <a:schemeClr val="accent6">
                    <a:satOff val="-35873"/>
                    <a:lumOff val="-12431"/>
                  </a:scheme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	at java.base/java.util.Scanner.next(Scanner.java:1619)</a:t>
            </a:r>
          </a:p>
          <a:p>
            <a:pPr>
              <a:defRPr sz="1600">
                <a:solidFill>
                  <a:schemeClr val="accent6">
                    <a:satOff val="-35873"/>
                    <a:lumOff val="-12431"/>
                  </a:scheme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	at java.base/java.util.Scanner.nextInt(Scanner.java:2284)</a:t>
            </a:r>
          </a:p>
          <a:p>
            <a:pPr>
              <a:defRPr sz="1600">
                <a:solidFill>
                  <a:schemeClr val="accent6">
                    <a:satOff val="-35873"/>
                    <a:lumOff val="-12431"/>
                  </a:scheme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	at java.base/java.util.Scanner.nextInt(Scanner.java:2238)</a:t>
            </a:r>
          </a:p>
          <a:p>
            <a:pPr>
              <a:defRPr sz="1600">
                <a:solidFill>
                  <a:schemeClr val="accent6">
                    <a:satOff val="-35873"/>
                    <a:lumOff val="-12431"/>
                  </a:scheme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	at InputMismatchExceptionExample.main(InputMismatchExceptionExample.java:8)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2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12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1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fill="hold"/>
                                        <p:tgtEl>
                                          <p:spTgt spid="1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3" fill="hold"/>
                                        <p:tgtEl>
                                          <p:spTgt spid="1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1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9" fill="hold"/>
                                        <p:tgtEl>
                                          <p:spTgt spid="1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3" fill="hold"/>
                                        <p:tgtEl>
                                          <p:spTgt spid="1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6" fill="hold"/>
                                        <p:tgtEl>
                                          <p:spTgt spid="1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9" fill="hold"/>
                                        <p:tgtEl>
                                          <p:spTgt spid="1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2" fill="hold"/>
                                        <p:tgtEl>
                                          <p:spTgt spid="1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5" fill="hold"/>
                                        <p:tgtEl>
                                          <p:spTgt spid="1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8" fill="hold"/>
                                        <p:tgtEl>
                                          <p:spTgt spid="1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" grpId="1" build="p" bldLvl="5" animBg="1" advAuto="0"/>
      <p:bldP spid="124" grpId="2" build="p" bldLvl="5" animBg="1" advAuto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제목 1"/>
          <p:cNvSpPr txBox="1">
            <a:spLocks noGrp="1"/>
          </p:cNvSpPr>
          <p:nvPr>
            <p:ph type="title"/>
          </p:nvPr>
        </p:nvSpPr>
        <p:spPr>
          <a:xfrm>
            <a:off x="551383" y="260647"/>
            <a:ext cx="11043248" cy="720082"/>
          </a:xfrm>
          <a:prstGeom prst="rect">
            <a:avLst/>
          </a:prstGeom>
        </p:spPr>
        <p:txBody>
          <a:bodyPr/>
          <a:lstStyle/>
          <a:p>
            <a:r>
              <a:t>Runtime Exception: ArithmeticException</a:t>
            </a:r>
          </a:p>
        </p:txBody>
      </p:sp>
      <p:sp>
        <p:nvSpPr>
          <p:cNvPr id="129" name="슬라이드 번호 개체 틀 3"/>
          <p:cNvSpPr txBox="1">
            <a:spLocks noGrp="1"/>
          </p:cNvSpPr>
          <p:nvPr>
            <p:ph type="sldNum" sz="quarter" idx="2"/>
          </p:nvPr>
        </p:nvSpPr>
        <p:spPr>
          <a:xfrm>
            <a:off x="11866332" y="6443875"/>
            <a:ext cx="256539" cy="24002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13</a:t>
            </a:fld>
            <a:endParaRPr/>
          </a:p>
        </p:txBody>
      </p:sp>
      <p:sp>
        <p:nvSpPr>
          <p:cNvPr id="130" name="TextBox 7"/>
          <p:cNvSpPr txBox="1"/>
          <p:nvPr/>
        </p:nvSpPr>
        <p:spPr>
          <a:xfrm>
            <a:off x="551382" y="980727"/>
            <a:ext cx="11043247" cy="2234566"/>
          </a:xfrm>
          <a:prstGeom prst="rect">
            <a:avLst/>
          </a:prstGeom>
          <a:ln>
            <a:solidFill>
              <a:srgbClr val="BFBFBF"/>
            </a:solidFill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defTabSz="502284">
              <a:tabLst>
                <a:tab pos="495300" algn="l"/>
              </a:tabLst>
              <a:defRPr>
                <a:solidFill>
                  <a:srgbClr val="000000">
                    <a:alpha val="85000"/>
                  </a:srgb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b="1">
                <a:solidFill>
                  <a:srgbClr val="AD3DA4"/>
                </a:solidFill>
              </a:rPr>
              <a:t>public</a:t>
            </a:r>
            <a:r>
              <a:t> </a:t>
            </a:r>
            <a:r>
              <a:rPr b="1">
                <a:solidFill>
                  <a:srgbClr val="AD3DA4"/>
                </a:solidFill>
              </a:rPr>
              <a:t>class</a:t>
            </a:r>
            <a:r>
              <a:t> ArithmeticExceptionExample {</a:t>
            </a:r>
          </a:p>
          <a:p>
            <a:pPr defTabSz="502284">
              <a:tabLst>
                <a:tab pos="495300" algn="l"/>
              </a:tabLst>
              <a:defRPr>
                <a:solidFill>
                  <a:srgbClr val="000000">
                    <a:alpha val="85000"/>
                  </a:srgb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</a:t>
            </a:r>
            <a:r>
              <a:rPr b="1">
                <a:solidFill>
                  <a:srgbClr val="AD3DA4"/>
                </a:solidFill>
              </a:rPr>
              <a:t>public</a:t>
            </a:r>
            <a:r>
              <a:t> </a:t>
            </a:r>
            <a:r>
              <a:rPr b="1">
                <a:solidFill>
                  <a:srgbClr val="AD3DA4"/>
                </a:solidFill>
              </a:rPr>
              <a:t>static</a:t>
            </a:r>
            <a:r>
              <a:t> </a:t>
            </a:r>
            <a:r>
              <a:rPr b="1">
                <a:solidFill>
                  <a:srgbClr val="AD3DA4"/>
                </a:solidFill>
              </a:rPr>
              <a:t>void</a:t>
            </a:r>
            <a:r>
              <a:t> main(String[] args) {</a:t>
            </a:r>
          </a:p>
          <a:p>
            <a:pPr defTabSz="502284">
              <a:tabLst>
                <a:tab pos="495300" algn="l"/>
              </a:tabLst>
              <a:defRPr>
                <a:solidFill>
                  <a:srgbClr val="000000">
                    <a:alpha val="85000"/>
                  </a:srgb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    </a:t>
            </a:r>
            <a:r>
              <a:rPr b="1">
                <a:solidFill>
                  <a:srgbClr val="AD3DA4"/>
                </a:solidFill>
              </a:rPr>
              <a:t>int</a:t>
            </a:r>
            <a:r>
              <a:t> dividend = </a:t>
            </a:r>
            <a:r>
              <a:rPr>
                <a:solidFill>
                  <a:srgbClr val="272AD8"/>
                </a:solidFill>
              </a:rPr>
              <a:t>10</a:t>
            </a:r>
            <a:r>
              <a:t>;</a:t>
            </a:r>
          </a:p>
          <a:p>
            <a:pPr defTabSz="502284">
              <a:tabLst>
                <a:tab pos="495300" algn="l"/>
              </a:tabLst>
              <a:defRPr>
                <a:solidFill>
                  <a:srgbClr val="000000">
                    <a:alpha val="85000"/>
                  </a:srgb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    </a:t>
            </a:r>
            <a:r>
              <a:rPr b="1">
                <a:solidFill>
                  <a:srgbClr val="AD3DA4"/>
                </a:solidFill>
              </a:rPr>
              <a:t>int</a:t>
            </a:r>
            <a:r>
              <a:t> divisor = </a:t>
            </a:r>
            <a:r>
              <a:rPr>
                <a:solidFill>
                  <a:srgbClr val="272AD8"/>
                </a:solidFill>
              </a:rPr>
              <a:t>0</a:t>
            </a:r>
            <a:r>
              <a:t>;</a:t>
            </a:r>
          </a:p>
          <a:p>
            <a:pPr defTabSz="502284">
              <a:tabLst>
                <a:tab pos="495300" algn="l"/>
              </a:tabLst>
              <a:defRPr>
                <a:solidFill>
                  <a:srgbClr val="000000">
                    <a:alpha val="85000"/>
                  </a:srgb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    </a:t>
            </a:r>
            <a:r>
              <a:rPr b="1">
                <a:solidFill>
                  <a:srgbClr val="AD3DA4"/>
                </a:solidFill>
              </a:rPr>
              <a:t>int</a:t>
            </a:r>
            <a:r>
              <a:t> result = dividend / divisor;</a:t>
            </a:r>
          </a:p>
          <a:p>
            <a:pPr defTabSz="502284">
              <a:tabLst>
                <a:tab pos="495300" algn="l"/>
              </a:tabLst>
              <a:defRPr>
                <a:solidFill>
                  <a:srgbClr val="000000">
                    <a:alpha val="85000"/>
                  </a:srgb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    System.out.println(</a:t>
            </a:r>
            <a:r>
              <a:rPr>
                <a:solidFill>
                  <a:srgbClr val="D12F1B"/>
                </a:solidFill>
              </a:rPr>
              <a:t>"Result: "</a:t>
            </a:r>
            <a:r>
              <a:t> + result);</a:t>
            </a:r>
          </a:p>
          <a:p>
            <a:pPr defTabSz="502284">
              <a:tabLst>
                <a:tab pos="495300" algn="l"/>
              </a:tabLst>
              <a:defRPr>
                <a:solidFill>
                  <a:srgbClr val="000000">
                    <a:alpha val="85000"/>
                  </a:srgb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}</a:t>
            </a:r>
          </a:p>
          <a:p>
            <a:pPr defTabSz="502284">
              <a:tabLst>
                <a:tab pos="495300" algn="l"/>
              </a:tabLst>
              <a:defRPr>
                <a:solidFill>
                  <a:srgbClr val="000000">
                    <a:alpha val="85000"/>
                  </a:srgbClr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}</a:t>
            </a:r>
          </a:p>
        </p:txBody>
      </p:sp>
      <p:sp>
        <p:nvSpPr>
          <p:cNvPr id="131" name="TextBox 9"/>
          <p:cNvSpPr txBox="1"/>
          <p:nvPr/>
        </p:nvSpPr>
        <p:spPr>
          <a:xfrm>
            <a:off x="551381" y="3371958"/>
            <a:ext cx="11043252" cy="685166"/>
          </a:xfrm>
          <a:prstGeom prst="rect">
            <a:avLst/>
          </a:prstGeom>
          <a:ln>
            <a:solidFill>
              <a:srgbClr val="BFBFBF"/>
            </a:solidFill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Exception in thread "main" java.lang.ArithmeticException: / by zero</a:t>
            </a:r>
          </a:p>
          <a:p>
            <a:pPr>
              <a:defRPr>
                <a:latin typeface="JetBrains Mono Regular"/>
                <a:ea typeface="JetBrains Mono Regular"/>
                <a:cs typeface="JetBrains Mono Regular"/>
                <a:sym typeface="JetBrains Mono Regular"/>
              </a:defRPr>
            </a:pPr>
            <a:r>
              <a:t>	at ArithmeticExceptionExample.main(ArithmeticExceptionExample.java:5)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3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1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1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1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1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9" fill="hold"/>
                                        <p:tgtEl>
                                          <p:spTgt spid="1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" grpId="1" build="p" bldLvl="5" animBg="1" advAuto="0"/>
      <p:bldP spid="131" grpId="2" animBg="1" advAuto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제목 1"/>
          <p:cNvSpPr txBox="1">
            <a:spLocks noGrp="1"/>
          </p:cNvSpPr>
          <p:nvPr>
            <p:ph type="title"/>
          </p:nvPr>
        </p:nvSpPr>
        <p:spPr>
          <a:xfrm>
            <a:off x="551383" y="260647"/>
            <a:ext cx="11043248" cy="720082"/>
          </a:xfrm>
          <a:prstGeom prst="rect">
            <a:avLst/>
          </a:prstGeom>
        </p:spPr>
        <p:txBody>
          <a:bodyPr/>
          <a:lstStyle/>
          <a:p>
            <a:r>
              <a:t>Runtime Exception: ClassCastException (1/2)</a:t>
            </a:r>
          </a:p>
        </p:txBody>
      </p:sp>
      <p:sp>
        <p:nvSpPr>
          <p:cNvPr id="136" name="텍스트 개체 틀 2"/>
          <p:cNvSpPr txBox="1">
            <a:spLocks noGrp="1"/>
          </p:cNvSpPr>
          <p:nvPr>
            <p:ph type="body" sz="quarter" idx="1"/>
          </p:nvPr>
        </p:nvSpPr>
        <p:spPr>
          <a:xfrm>
            <a:off x="551383" y="1124742"/>
            <a:ext cx="11043248" cy="538958"/>
          </a:xfrm>
          <a:prstGeom prst="rect">
            <a:avLst/>
          </a:prstGeom>
        </p:spPr>
        <p:txBody>
          <a:bodyPr/>
          <a:lstStyle/>
          <a:p>
            <a:r>
              <a:t>Occurs when type conversion between classes is not possible</a:t>
            </a:r>
          </a:p>
        </p:txBody>
      </p:sp>
      <p:sp>
        <p:nvSpPr>
          <p:cNvPr id="137" name="슬라이드 번호 개체 틀 3"/>
          <p:cNvSpPr txBox="1">
            <a:spLocks noGrp="1"/>
          </p:cNvSpPr>
          <p:nvPr>
            <p:ph type="sldNum" sz="quarter" idx="2"/>
          </p:nvPr>
        </p:nvSpPr>
        <p:spPr>
          <a:xfrm>
            <a:off x="11866332" y="6443875"/>
            <a:ext cx="256539" cy="24002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14</a:t>
            </a:fld>
            <a:endParaRPr/>
          </a:p>
        </p:txBody>
      </p:sp>
      <p:sp>
        <p:nvSpPr>
          <p:cNvPr id="138" name="TextBox 5"/>
          <p:cNvSpPr txBox="1"/>
          <p:nvPr/>
        </p:nvSpPr>
        <p:spPr>
          <a:xfrm>
            <a:off x="792683" y="1655314"/>
            <a:ext cx="10801948" cy="4685666"/>
          </a:xfrm>
          <a:prstGeom prst="rect">
            <a:avLst/>
          </a:prstGeom>
          <a:ln>
            <a:solidFill>
              <a:srgbClr val="BFBFBF"/>
            </a:solidFill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600" b="1">
                <a:solidFill>
                  <a:srgbClr val="9B2393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/>
              <a:t>class</a:t>
            </a:r>
            <a:r>
              <a:rPr b="0" dirty="0">
                <a:solidFill>
                  <a:srgbClr val="000000"/>
                </a:solidFill>
              </a:rPr>
              <a:t> Vehicle { };</a:t>
            </a:r>
            <a:endParaRPr b="0" dirty="0">
              <a:latin typeface="나눔스퀘어OTF Bold"/>
              <a:ea typeface="나눔스퀘어OTF Bold"/>
              <a:cs typeface="나눔스퀘어OTF Bold"/>
              <a:sym typeface="나눔스퀘어OTF Bold"/>
            </a:endParaRPr>
          </a:p>
          <a:p>
            <a:pPr>
              <a:defRPr sz="1600" b="1">
                <a:solidFill>
                  <a:srgbClr val="9B2393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/>
              <a:t>class</a:t>
            </a:r>
            <a:r>
              <a:rPr b="0" dirty="0">
                <a:solidFill>
                  <a:srgbClr val="000000"/>
                </a:solidFill>
              </a:rPr>
              <a:t> Auto </a:t>
            </a:r>
            <a:r>
              <a:rPr dirty="0"/>
              <a:t>extends</a:t>
            </a:r>
            <a:r>
              <a:rPr b="0" dirty="0">
                <a:solidFill>
                  <a:srgbClr val="000000"/>
                </a:solidFill>
              </a:rPr>
              <a:t> Vehicle { };</a:t>
            </a:r>
            <a:endParaRPr b="0" dirty="0">
              <a:latin typeface="나눔스퀘어OTF Bold"/>
              <a:ea typeface="나눔스퀘어OTF Bold"/>
              <a:cs typeface="나눔스퀘어OTF Bold"/>
              <a:sym typeface="나눔스퀘어OTF Bold"/>
            </a:endParaRPr>
          </a:p>
          <a:p>
            <a:pPr>
              <a:defRPr sz="1600" b="1">
                <a:solidFill>
                  <a:srgbClr val="9B2393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/>
              <a:t>class</a:t>
            </a:r>
            <a:r>
              <a:rPr b="0" dirty="0">
                <a:solidFill>
                  <a:srgbClr val="000000"/>
                </a:solidFill>
              </a:rPr>
              <a:t> Bicycle </a:t>
            </a:r>
            <a:r>
              <a:rPr dirty="0"/>
              <a:t>extends</a:t>
            </a:r>
            <a:r>
              <a:rPr b="0" dirty="0">
                <a:solidFill>
                  <a:srgbClr val="000000"/>
                </a:solidFill>
              </a:rPr>
              <a:t> Vehicle { };</a:t>
            </a:r>
            <a:br>
              <a:rPr b="0" dirty="0">
                <a:solidFill>
                  <a:srgbClr val="000000"/>
                </a:solidFill>
              </a:rPr>
            </a:br>
            <a:endParaRPr b="0" dirty="0">
              <a:solidFill>
                <a:srgbClr val="000000"/>
              </a:solidFill>
            </a:endParaRPr>
          </a:p>
          <a:p>
            <a:pPr>
              <a:defRPr sz="1600" b="1">
                <a:solidFill>
                  <a:srgbClr val="9B2393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/>
              <a:t>public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dirty="0"/>
              <a:t>class</a:t>
            </a:r>
            <a:r>
              <a:rPr b="0" dirty="0">
                <a:solidFill>
                  <a:srgbClr val="000000"/>
                </a:solidFill>
              </a:rPr>
              <a:t> </a:t>
            </a:r>
            <a:r>
              <a:rPr b="0" dirty="0" err="1">
                <a:solidFill>
                  <a:srgbClr val="000000"/>
                </a:solidFill>
              </a:rPr>
              <a:t>ClassCastExceptionDemo</a:t>
            </a:r>
            <a:r>
              <a:rPr b="0" dirty="0">
                <a:solidFill>
                  <a:srgbClr val="000000"/>
                </a:solidFill>
              </a:rPr>
              <a:t> {</a:t>
            </a:r>
            <a:endParaRPr b="0" dirty="0">
              <a:latin typeface="나눔스퀘어OTF Bold"/>
              <a:ea typeface="나눔스퀘어OTF Bold"/>
              <a:cs typeface="나눔스퀘어OTF Bold"/>
              <a:sym typeface="나눔스퀘어OTF Bold"/>
            </a:endParaRPr>
          </a:p>
          <a:p>
            <a:pPr>
              <a:defRPr sz="16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/>
              <a:t>    </a:t>
            </a:r>
            <a:r>
              <a:rPr b="1" dirty="0">
                <a:solidFill>
                  <a:srgbClr val="9B2393"/>
                </a:solidFill>
              </a:rPr>
              <a:t>public</a:t>
            </a:r>
            <a:r>
              <a:rPr dirty="0"/>
              <a:t> </a:t>
            </a:r>
            <a:r>
              <a:rPr b="1" dirty="0">
                <a:solidFill>
                  <a:srgbClr val="9B2393"/>
                </a:solidFill>
              </a:rPr>
              <a:t>static</a:t>
            </a:r>
            <a:r>
              <a:rPr dirty="0"/>
              <a:t> </a:t>
            </a:r>
            <a:r>
              <a:rPr b="1" dirty="0">
                <a:solidFill>
                  <a:srgbClr val="9B2393"/>
                </a:solidFill>
              </a:rPr>
              <a:t>void</a:t>
            </a:r>
            <a:r>
              <a:rPr dirty="0"/>
              <a:t> main(String[] args) {</a:t>
            </a:r>
            <a:endParaRPr dirty="0">
              <a:latin typeface="나눔스퀘어OTF Regular"/>
              <a:ea typeface="나눔스퀘어OTF Regular"/>
              <a:cs typeface="나눔스퀘어OTF Regular"/>
              <a:sym typeface="나눔스퀘어OTF Regular"/>
            </a:endParaRPr>
          </a:p>
          <a:p>
            <a:pPr>
              <a:defRPr sz="16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/>
              <a:t>        Vehicle vec1 = </a:t>
            </a:r>
            <a:r>
              <a:rPr b="1" dirty="0">
                <a:solidFill>
                  <a:srgbClr val="9B2393"/>
                </a:solidFill>
              </a:rPr>
              <a:t>new</a:t>
            </a:r>
            <a:r>
              <a:rPr dirty="0"/>
              <a:t> Auto();</a:t>
            </a:r>
            <a:endParaRPr dirty="0">
              <a:latin typeface="나눔스퀘어OTF Regular"/>
              <a:ea typeface="나눔스퀘어OTF Regular"/>
              <a:cs typeface="나눔스퀘어OTF Regular"/>
              <a:sym typeface="나눔스퀘어OTF Regular"/>
            </a:endParaRPr>
          </a:p>
          <a:p>
            <a:pPr>
              <a:defRPr sz="16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/>
              <a:t>        Vehicle vec2 = </a:t>
            </a:r>
            <a:r>
              <a:rPr b="1" dirty="0">
                <a:solidFill>
                  <a:srgbClr val="9B2393"/>
                </a:solidFill>
              </a:rPr>
              <a:t>new</a:t>
            </a:r>
            <a:r>
              <a:rPr dirty="0"/>
              <a:t> Bicycle();</a:t>
            </a:r>
            <a:endParaRPr dirty="0">
              <a:latin typeface="나눔스퀘어OTF Regular"/>
              <a:ea typeface="나눔스퀘어OTF Regular"/>
              <a:cs typeface="나눔스퀘어OTF Regular"/>
              <a:sym typeface="나눔스퀘어OTF Regular"/>
            </a:endParaRPr>
          </a:p>
          <a:p>
            <a:pPr>
              <a:defRPr sz="1600">
                <a:latin typeface="Menlo Regular"/>
                <a:ea typeface="Menlo Regular"/>
                <a:cs typeface="Menlo Regular"/>
                <a:sym typeface="Menlo Regular"/>
              </a:defRPr>
            </a:pPr>
            <a:endParaRPr dirty="0">
              <a:latin typeface="나눔스퀘어OTF Regular"/>
              <a:ea typeface="나눔스퀘어OTF Regular"/>
              <a:cs typeface="나눔스퀘어OTF Regular"/>
              <a:sym typeface="나눔스퀘어OTF Regular"/>
            </a:endParaRPr>
          </a:p>
          <a:p>
            <a:pPr>
              <a:defRPr sz="16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/>
              <a:t>        Auto auto1 = (Auto) vec1;    </a:t>
            </a:r>
            <a:r>
              <a:rPr dirty="0">
                <a:solidFill>
                  <a:srgbClr val="267507"/>
                </a:solidFill>
              </a:rPr>
              <a:t>// OK.. vec1’s original class is Auto</a:t>
            </a:r>
          </a:p>
          <a:p>
            <a:pPr>
              <a:defRPr sz="1600">
                <a:solidFill>
                  <a:srgbClr val="267507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/>
              <a:t>        </a:t>
            </a:r>
            <a:r>
              <a:rPr b="1" dirty="0">
                <a:solidFill>
                  <a:srgbClr val="9B2393"/>
                </a:solidFill>
              </a:rPr>
              <a:t>if</a:t>
            </a:r>
            <a:r>
              <a:rPr dirty="0"/>
              <a:t> (vec1 </a:t>
            </a:r>
            <a:r>
              <a:rPr b="1" dirty="0" err="1">
                <a:solidFill>
                  <a:srgbClr val="9B2393"/>
                </a:solidFill>
              </a:rPr>
              <a:t>instanceof</a:t>
            </a:r>
            <a:r>
              <a:rPr dirty="0"/>
              <a:t> Auto) {  // preventing wrong conversion</a:t>
            </a:r>
            <a:endParaRPr dirty="0">
              <a:latin typeface="나눔스퀘어OTF Regular"/>
              <a:ea typeface="나눔스퀘어OTF Regular"/>
              <a:cs typeface="나눔스퀘어OTF Regular"/>
              <a:sym typeface="나눔스퀘어OTF Regular"/>
            </a:endParaRPr>
          </a:p>
          <a:p>
            <a:pPr>
              <a:defRPr sz="16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/>
              <a:t>            Auto auto2 = (Auto) vec1;</a:t>
            </a:r>
            <a:endParaRPr dirty="0">
              <a:latin typeface="나눔스퀘어OTF Regular"/>
              <a:ea typeface="나눔스퀘어OTF Regular"/>
              <a:cs typeface="나눔스퀘어OTF Regular"/>
              <a:sym typeface="나눔스퀘어OTF Regular"/>
            </a:endParaRPr>
          </a:p>
          <a:p>
            <a:pPr>
              <a:defRPr sz="16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/>
              <a:t>        }</a:t>
            </a:r>
            <a:endParaRPr dirty="0">
              <a:latin typeface="나눔스퀘어OTF Regular"/>
              <a:ea typeface="나눔스퀘어OTF Regular"/>
              <a:cs typeface="나눔스퀘어OTF Regular"/>
              <a:sym typeface="나눔스퀘어OTF Regular"/>
            </a:endParaRPr>
          </a:p>
          <a:p>
            <a:pPr>
              <a:defRPr sz="1600">
                <a:latin typeface="Menlo Regular"/>
                <a:ea typeface="Menlo Regular"/>
                <a:cs typeface="Menlo Regular"/>
                <a:sym typeface="Menlo Regular"/>
              </a:defRPr>
            </a:pPr>
            <a:endParaRPr dirty="0">
              <a:latin typeface="나눔스퀘어OTF Regular"/>
              <a:ea typeface="나눔스퀘어OTF Regular"/>
              <a:cs typeface="나눔스퀘어OTF Regular"/>
              <a:sym typeface="나눔스퀘어OTF Regular"/>
            </a:endParaRPr>
          </a:p>
          <a:p>
            <a:pPr>
              <a:defRPr sz="16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/>
              <a:t>        Bicycle by = (Bicycle) vec2; </a:t>
            </a:r>
            <a:r>
              <a:rPr dirty="0">
                <a:solidFill>
                  <a:srgbClr val="267507"/>
                </a:solidFill>
              </a:rPr>
              <a:t>// OK.. vec2’s original class is Bicycle</a:t>
            </a:r>
          </a:p>
          <a:p>
            <a:pPr>
              <a:defRPr sz="16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/>
              <a:t>        Auto auto3 = (Auto) vec2;    </a:t>
            </a:r>
            <a:r>
              <a:rPr dirty="0">
                <a:solidFill>
                  <a:srgbClr val="267507"/>
                </a:solidFill>
              </a:rPr>
              <a:t>// </a:t>
            </a:r>
            <a:r>
              <a:rPr dirty="0" err="1">
                <a:solidFill>
                  <a:srgbClr val="267507"/>
                </a:solidFill>
              </a:rPr>
              <a:t>ClassCastException</a:t>
            </a:r>
            <a:endParaRPr dirty="0">
              <a:solidFill>
                <a:srgbClr val="267507"/>
              </a:solidFill>
            </a:endParaRPr>
          </a:p>
          <a:p>
            <a:pPr>
              <a:defRPr sz="1600">
                <a:solidFill>
                  <a:srgbClr val="267507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/>
              <a:t>                                     // vec2’s original class is Bicycle, not Auto</a:t>
            </a:r>
            <a:endParaRPr dirty="0">
              <a:latin typeface="나눔스퀘어OTF Regular"/>
              <a:ea typeface="나눔스퀘어OTF Regular"/>
              <a:cs typeface="나눔스퀘어OTF Regular"/>
              <a:sym typeface="나눔스퀘어OTF Regular"/>
            </a:endParaRPr>
          </a:p>
          <a:p>
            <a:pPr>
              <a:defRPr sz="16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/>
              <a:t>    }</a:t>
            </a:r>
            <a:endParaRPr dirty="0">
              <a:latin typeface="나눔스퀘어OTF Regular"/>
              <a:ea typeface="나눔스퀘어OTF Regular"/>
              <a:cs typeface="나눔스퀘어OTF Regular"/>
              <a:sym typeface="나눔스퀘어OTF Regular"/>
            </a:endParaRPr>
          </a:p>
          <a:p>
            <a:pPr>
              <a:defRPr sz="16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/>
              <a:t>}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3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1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1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1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1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1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7" fill="hold"/>
                                        <p:tgtEl>
                                          <p:spTgt spid="13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fill="hold"/>
                                        <p:tgtEl>
                                          <p:spTgt spid="13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3" fill="hold"/>
                                        <p:tgtEl>
                                          <p:spTgt spid="13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13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0" fill="hold"/>
                                        <p:tgtEl>
                                          <p:spTgt spid="13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4" fill="hold"/>
                                        <p:tgtEl>
                                          <p:spTgt spid="13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7" fill="hold"/>
                                        <p:tgtEl>
                                          <p:spTgt spid="13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0" fill="hold"/>
                                        <p:tgtEl>
                                          <p:spTgt spid="13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3" fill="hold"/>
                                        <p:tgtEl>
                                          <p:spTgt spid="138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" grpId="1" build="p" bldLvl="5" animBg="1" advAuto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제목 1"/>
          <p:cNvSpPr txBox="1">
            <a:spLocks noGrp="1"/>
          </p:cNvSpPr>
          <p:nvPr>
            <p:ph type="title"/>
          </p:nvPr>
        </p:nvSpPr>
        <p:spPr>
          <a:xfrm>
            <a:off x="551383" y="260647"/>
            <a:ext cx="11043248" cy="720082"/>
          </a:xfrm>
          <a:prstGeom prst="rect">
            <a:avLst/>
          </a:prstGeom>
        </p:spPr>
        <p:txBody>
          <a:bodyPr/>
          <a:lstStyle/>
          <a:p>
            <a:r>
              <a:t>Runtime Exception: ClassCastException (2/2)</a:t>
            </a:r>
          </a:p>
        </p:txBody>
      </p:sp>
      <p:sp>
        <p:nvSpPr>
          <p:cNvPr id="143" name="슬라이드 번호 개체 틀 3"/>
          <p:cNvSpPr txBox="1">
            <a:spLocks noGrp="1"/>
          </p:cNvSpPr>
          <p:nvPr>
            <p:ph type="sldNum" sz="quarter" idx="2"/>
          </p:nvPr>
        </p:nvSpPr>
        <p:spPr>
          <a:xfrm>
            <a:off x="11866332" y="6443875"/>
            <a:ext cx="256539" cy="24002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15</a:t>
            </a:fld>
            <a:endParaRPr/>
          </a:p>
        </p:txBody>
      </p:sp>
      <p:sp>
        <p:nvSpPr>
          <p:cNvPr id="144" name="TextBox 7"/>
          <p:cNvSpPr txBox="1"/>
          <p:nvPr/>
        </p:nvSpPr>
        <p:spPr>
          <a:xfrm>
            <a:off x="551382" y="1351629"/>
            <a:ext cx="10904019" cy="824866"/>
          </a:xfrm>
          <a:prstGeom prst="rect">
            <a:avLst/>
          </a:prstGeom>
          <a:ln>
            <a:solidFill>
              <a:srgbClr val="BFBFBF"/>
            </a:solidFill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6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Exception in thread </a:t>
            </a:r>
            <a:r>
              <a:rPr>
                <a:solidFill>
                  <a:srgbClr val="C41A16"/>
                </a:solidFill>
              </a:rPr>
              <a:t>"main"</a:t>
            </a:r>
            <a:r>
              <a:t> java.lang.ClassCastException: </a:t>
            </a:r>
            <a:r>
              <a:rPr b="1">
                <a:solidFill>
                  <a:srgbClr val="9B2393"/>
                </a:solidFill>
              </a:rPr>
              <a:t>class</a:t>
            </a:r>
            <a:r>
              <a:t> Bicycle cannot be </a:t>
            </a:r>
            <a:r>
              <a:rPr b="1">
                <a:solidFill>
                  <a:srgbClr val="9B2393"/>
                </a:solidFill>
              </a:rPr>
              <a:t>cast</a:t>
            </a:r>
            <a:r>
              <a:t> to </a:t>
            </a:r>
            <a:r>
              <a:rPr b="1">
                <a:solidFill>
                  <a:srgbClr val="9B2393"/>
                </a:solidFill>
              </a:rPr>
              <a:t>class</a:t>
            </a:r>
            <a:r>
              <a:t> Auto (Bicycle and Auto are in unnamed module of loader </a:t>
            </a:r>
            <a:r>
              <a:rPr>
                <a:solidFill>
                  <a:srgbClr val="1C00CF"/>
                </a:solidFill>
              </a:rPr>
              <a:t>'app'</a:t>
            </a:r>
            <a:r>
              <a:t>)</a:t>
            </a:r>
            <a:endParaRPr>
              <a:latin typeface="나눔스퀘어OTF Regular"/>
              <a:ea typeface="나눔스퀘어OTF Regular"/>
              <a:cs typeface="나눔스퀘어OTF Regular"/>
              <a:sym typeface="나눔스퀘어OTF Regular"/>
            </a:endParaRPr>
          </a:p>
          <a:p>
            <a:pPr>
              <a:defRPr sz="160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    at ClassCastExceptionDemo.main(ClassCastExceptionDemo.java:</a:t>
            </a:r>
            <a:r>
              <a:rPr>
                <a:solidFill>
                  <a:srgbClr val="1C00CF"/>
                </a:solidFill>
              </a:rPr>
              <a:t>16</a:t>
            </a:r>
            <a:r>
              <a:t>)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테마">
      <a:majorFont>
        <a:latin typeface="Helvetica"/>
        <a:ea typeface="Helvetica"/>
        <a:cs typeface="Helvetica"/>
      </a:majorFont>
      <a:minorFont>
        <a:latin typeface="나눔스퀘어 네오 OTF Regular"/>
        <a:ea typeface="나눔스퀘어 네오 OTF Regular"/>
        <a:cs typeface="나눔스퀘어 네오 OTF Regular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나눔스퀘어 네오 OTF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나눔스퀘어 네오 OTF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테마">
      <a:majorFont>
        <a:latin typeface="Helvetica"/>
        <a:ea typeface="Helvetica"/>
        <a:cs typeface="Helvetica"/>
      </a:majorFont>
      <a:minorFont>
        <a:latin typeface="나눔스퀘어 네오 OTF Regular"/>
        <a:ea typeface="나눔스퀘어 네오 OTF Regular"/>
        <a:cs typeface="나눔스퀘어 네오 OTF Regular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나눔스퀘어 네오 OTF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나눔스퀘어 네오 OTF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3595</Words>
  <Application>Microsoft Macintosh PowerPoint</Application>
  <PresentationFormat>와이드스크린</PresentationFormat>
  <Paragraphs>484</Paragraphs>
  <Slides>15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2" baseType="lpstr">
      <vt:lpstr>나눔스퀘어 네오 OTF Regular</vt:lpstr>
      <vt:lpstr>나눔스퀘어OTF Bold</vt:lpstr>
      <vt:lpstr>나눔스퀘어OTF Regular</vt:lpstr>
      <vt:lpstr>Arial</vt:lpstr>
      <vt:lpstr>Cambria Math</vt:lpstr>
      <vt:lpstr>Tahoma</vt:lpstr>
      <vt:lpstr>Office 테마</vt:lpstr>
      <vt:lpstr>08_1 Exception Class</vt:lpstr>
      <vt:lpstr>Errors and Exceptions</vt:lpstr>
      <vt:lpstr>Types of Exception</vt:lpstr>
      <vt:lpstr>Exception Classes</vt:lpstr>
      <vt:lpstr>General Exception: ClassNotFoundException (1/3)</vt:lpstr>
      <vt:lpstr>General Exception: ClassNotFoundException (2/3)</vt:lpstr>
      <vt:lpstr>General Exception: ClassNotFoundException (3/3)</vt:lpstr>
      <vt:lpstr>General Exception: java.io.IOException</vt:lpstr>
      <vt:lpstr>Runtime Exception: NullPointerException</vt:lpstr>
      <vt:lpstr>Runtime Exception: ArrayIndexOutOfBoundsException</vt:lpstr>
      <vt:lpstr>Runtime Exception: NumberFormatException</vt:lpstr>
      <vt:lpstr>Runtime Exception: InputMismatchException</vt:lpstr>
      <vt:lpstr>Runtime Exception: ArithmeticException</vt:lpstr>
      <vt:lpstr>Runtime Exception: ClassCastException (1/2)</vt:lpstr>
      <vt:lpstr>Runtime Exception: ClassCastException (2/2)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인권 이</cp:lastModifiedBy>
  <cp:revision>2</cp:revision>
  <dcterms:modified xsi:type="dcterms:W3CDTF">2025-11-06T17:05:21Z</dcterms:modified>
</cp:coreProperties>
</file>